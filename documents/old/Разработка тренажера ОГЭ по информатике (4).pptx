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9786F8-DD7C-43CE-A95C-256C05347FCC}">
  <a:tblStyle styleId="{7B9786F8-DD7C-43CE-A95C-256C05347F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Medium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bdabaa0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2bdabaa0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2bdabaa0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2bdabaa0c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2bdabaa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2bdabaa0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bdabaa0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2bdabaa0c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2bdabaa0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2bdabaa0c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8.png"/><Relationship Id="rId13" Type="http://schemas.openxmlformats.org/officeDocument/2006/relationships/image" Target="../media/image16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jpg"/><Relationship Id="rId4" Type="http://schemas.openxmlformats.org/officeDocument/2006/relationships/image" Target="../media/image50.jpg"/><Relationship Id="rId5" Type="http://schemas.openxmlformats.org/officeDocument/2006/relationships/image" Target="../media/image4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2386615"/>
            <a:ext cx="1160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OGE Teacher</a:t>
            </a:r>
            <a:r>
              <a:rPr b="0" i="0" lang="en-US" sz="6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App</a:t>
            </a:r>
            <a:endParaRPr sz="2200"/>
          </a:p>
        </p:txBody>
      </p:sp>
      <p:sp>
        <p:nvSpPr>
          <p:cNvPr id="86" name="Google Shape;86;p13"/>
          <p:cNvSpPr txBox="1"/>
          <p:nvPr/>
        </p:nvSpPr>
        <p:spPr>
          <a:xfrm>
            <a:off x="624400" y="3487265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2"/>
                </a:solidFill>
              </a:rPr>
              <a:t>Интерактивный тренажер для подготовки к ОГЭ по информатике</a:t>
            </a:r>
            <a:endParaRPr sz="2200">
              <a:solidFill>
                <a:schemeClr val="lt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07060"/>
            <a:ext cx="1104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Выполнил: Душенков Антон Александрович, 10В класс</a:t>
            </a:r>
            <a:br>
              <a:rPr i="0" lang="en-US" sz="2000" u="none" cap="none" strike="noStrike">
                <a:solidFill>
                  <a:srgbClr val="CBD5E1"/>
                </a:solidFill>
              </a:rPr>
            </a:br>
            <a:r>
              <a:rPr i="0" lang="en-US" sz="2000" u="none" cap="none" strike="noStrike">
                <a:solidFill>
                  <a:srgbClr val="CBD5E1"/>
                </a:solidFill>
              </a:rPr>
              <a:t> Руководитель: Келбусова С.С.</a:t>
            </a:r>
            <a:br>
              <a:rPr i="0" lang="en-US" sz="2000" u="none" cap="none" strike="noStrike">
                <a:solidFill>
                  <a:srgbClr val="CBD5E1"/>
                </a:solidFill>
              </a:rPr>
            </a:br>
            <a:r>
              <a:rPr i="0" lang="en-US" sz="2000" u="none" cap="none" strike="noStrike">
                <a:solidFill>
                  <a:srgbClr val="CBD5E1"/>
                </a:solidFill>
              </a:rPr>
              <a:t> ГБОУ Лицей № 554, СПб, 2026</a:t>
            </a:r>
            <a:endParaRPr sz="20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47750" y="2030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</a:rPr>
              <a:t>Цель:</a:t>
            </a:r>
            <a:r>
              <a:rPr i="0" lang="en-US" sz="2200" u="none" cap="none" strike="noStrike">
                <a:solidFill>
                  <a:srgbClr val="CBD5E1"/>
                </a:solidFill>
              </a:rPr>
              <a:t> Разработать ПО на Python для автоматизации подготовки и повышения эффективности самоконтроля.</a:t>
            </a:r>
            <a:endParaRPr sz="2200"/>
          </a:p>
        </p:txBody>
      </p:sp>
      <p:sp>
        <p:nvSpPr>
          <p:cNvPr id="94" name="Google Shape;94;p14"/>
          <p:cNvSpPr txBox="1"/>
          <p:nvPr/>
        </p:nvSpPr>
        <p:spPr>
          <a:xfrm>
            <a:off x="1047750" y="3259649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Проанализировать актуальные требования ФИПИ 2026.</a:t>
            </a:r>
            <a:endParaRPr sz="2200"/>
          </a:p>
        </p:txBody>
      </p:sp>
      <p:sp>
        <p:nvSpPr>
          <p:cNvPr id="95" name="Google Shape;95;p14"/>
          <p:cNvSpPr txBox="1"/>
          <p:nvPr/>
        </p:nvSpPr>
        <p:spPr>
          <a:xfrm>
            <a:off x="1047750" y="3946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Реализовать модули тестирования, учета времени и статистики.</a:t>
            </a:r>
            <a:endParaRPr sz="2200"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5175653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Внедрить инструменты визуальной аналитики "слабых мест".</a:t>
            </a:r>
            <a:endParaRPr sz="2200"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022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4689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0687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Цели и задачи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проекта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8195"/>
            <a:ext cx="11049000" cy="47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Потребности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аудитории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16"/>
          <p:cNvGraphicFramePr/>
          <p:nvPr/>
        </p:nvGraphicFramePr>
        <p:xfrm>
          <a:off x="571500" y="2430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{7B9786F8-DD7C-43CE-A95C-256C05347FCC}</a:tableStyleId>
              </a:tblPr>
              <a:tblGrid>
                <a:gridCol w="3220500"/>
                <a:gridCol w="2118725"/>
                <a:gridCol w="2500750"/>
                <a:gridCol w="3209025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Решу ОГЭ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Банк ФИПИ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OGE Teacher App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Персональная аналитика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Поверхностная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Отсутствует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Глубокая (QtCharts)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Оффлайн-режим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Частично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Полная автономность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Учет времени (таймер)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Базовый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Индивидуальный трекинг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Интерфейс (UI/UX)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Устаревший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Минималистичный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Современный (PySide6)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6"/>
          <p:cNvSpPr/>
          <p:nvPr/>
        </p:nvSpPr>
        <p:spPr>
          <a:xfrm>
            <a:off x="571500" y="3059310"/>
            <a:ext cx="32205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791991" y="3059310"/>
            <a:ext cx="21186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910708" y="3059310"/>
            <a:ext cx="25008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411467" y="3059310"/>
            <a:ext cx="32091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71500" y="3692723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791991" y="3692723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910708" y="3692723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411467" y="3692723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4311848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791991" y="4311848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910708" y="4311848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411467" y="4311848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4930973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791991" y="4930973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910708" y="4930973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411467" y="4930973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5550098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791991" y="5550098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910708" y="5550098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411467" y="5550098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Анализ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существующих</a:t>
            </a:r>
            <a:r>
              <a:rPr i="0" lang="en-US" sz="4050" u="none" cap="none" strike="noStrike">
                <a:solidFill>
                  <a:srgbClr val="F5F5F5"/>
                </a:solidFill>
              </a:rPr>
              <a:t> решений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973"/>
            <a:ext cx="2619375" cy="366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1909975"/>
            <a:ext cx="2619375" cy="366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909975"/>
            <a:ext cx="2619375" cy="366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1909975"/>
            <a:ext cx="2619375" cy="366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288" y="214817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73125" y="2834717"/>
            <a:ext cx="21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DEFF9A"/>
                </a:solidFill>
              </a:rPr>
              <a:t>Python 3.</a:t>
            </a:r>
            <a:r>
              <a:rPr lang="en-US" sz="2200">
                <a:solidFill>
                  <a:srgbClr val="DEFF9A"/>
                </a:solidFill>
              </a:rPr>
              <a:t>12</a:t>
            </a:r>
            <a:endParaRPr sz="2200"/>
          </a:p>
        </p:txBody>
      </p:sp>
      <p:sp>
        <p:nvSpPr>
          <p:cNvPr id="147" name="Google Shape;147;p17"/>
          <p:cNvSpPr txBox="1"/>
          <p:nvPr/>
        </p:nvSpPr>
        <p:spPr>
          <a:xfrm>
            <a:off x="693775" y="3429025"/>
            <a:ext cx="22890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Высокая скорость разработки и богатая экосистема библиотек.</a:t>
            </a:r>
            <a:endParaRPr sz="2000"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7825" y="214816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3670313" y="2834729"/>
            <a:ext cx="21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DEFF9A"/>
                </a:solidFill>
              </a:rPr>
              <a:t>PySide6</a:t>
            </a:r>
            <a:endParaRPr sz="1800"/>
          </a:p>
        </p:txBody>
      </p:sp>
      <p:sp>
        <p:nvSpPr>
          <p:cNvPr id="150" name="Google Shape;150;p17"/>
          <p:cNvSpPr txBox="1"/>
          <p:nvPr/>
        </p:nvSpPr>
        <p:spPr>
          <a:xfrm>
            <a:off x="3546563" y="3288475"/>
            <a:ext cx="22890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Официальный фреймворк Qt для создания кроссплатформенных GUI.</a:t>
            </a:r>
            <a:endParaRPr sz="2000"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2925" y="215974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435788" y="2834729"/>
            <a:ext cx="21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DEFF9A"/>
                </a:solidFill>
              </a:rPr>
              <a:t>QtCharts</a:t>
            </a:r>
            <a:endParaRPr sz="1800"/>
          </a:p>
        </p:txBody>
      </p:sp>
      <p:sp>
        <p:nvSpPr>
          <p:cNvPr id="153" name="Google Shape;153;p17"/>
          <p:cNvSpPr txBox="1"/>
          <p:nvPr/>
        </p:nvSpPr>
        <p:spPr>
          <a:xfrm>
            <a:off x="6356438" y="3459925"/>
            <a:ext cx="22890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Встроенная визуализация данных без лишних зависимостей.</a:t>
            </a:r>
            <a:endParaRPr sz="2000"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45938" y="214816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288550" y="2834729"/>
            <a:ext cx="21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DEFF9A"/>
                </a:solidFill>
              </a:rPr>
              <a:t>JSON</a:t>
            </a:r>
            <a:endParaRPr sz="1800"/>
          </a:p>
        </p:txBody>
      </p:sp>
      <p:sp>
        <p:nvSpPr>
          <p:cNvPr id="156" name="Google Shape;156;p17"/>
          <p:cNvSpPr txBox="1"/>
          <p:nvPr/>
        </p:nvSpPr>
        <p:spPr>
          <a:xfrm>
            <a:off x="9086950" y="3288475"/>
            <a:ext cx="25335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Легковесный формат для локального хранения базы заданий и статистики.</a:t>
            </a:r>
            <a:endParaRPr sz="2000"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1050" y="231961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09275" y="23196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94375" y="23196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31700" y="233119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Технологический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стек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727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17925" y="1967285"/>
            <a:ext cx="550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5F5F5"/>
                </a:solidFill>
              </a:rPr>
              <a:t>Модульная структура</a:t>
            </a:r>
            <a:endParaRPr sz="2200"/>
          </a:p>
        </p:txBody>
      </p:sp>
      <p:sp>
        <p:nvSpPr>
          <p:cNvPr id="169" name="Google Shape;169;p18"/>
          <p:cNvSpPr txBox="1"/>
          <p:nvPr/>
        </p:nvSpPr>
        <p:spPr>
          <a:xfrm>
            <a:off x="517925" y="2575885"/>
            <a:ext cx="52389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Приложение построено на принципах ООП с четким разделением ответственности:</a:t>
            </a:r>
            <a:endParaRPr sz="2200"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6798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725" y="4214985"/>
            <a:ext cx="523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UI Layer: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Пакет ui/ (PySide6 widgets)</a:t>
            </a:r>
            <a:endParaRPr sz="2000"/>
          </a:p>
        </p:txBody>
      </p:sp>
      <p:sp>
        <p:nvSpPr>
          <p:cNvPr id="172" name="Google Shape;172;p18"/>
          <p:cNvSpPr txBox="1"/>
          <p:nvPr/>
        </p:nvSpPr>
        <p:spPr>
          <a:xfrm>
            <a:off x="517925" y="4814285"/>
            <a:ext cx="523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Logic Layer: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TaskManager, StatsManager</a:t>
            </a:r>
            <a:endParaRPr sz="2000"/>
          </a:p>
        </p:txBody>
      </p:sp>
      <p:sp>
        <p:nvSpPr>
          <p:cNvPr id="173" name="Google Shape;173;p18"/>
          <p:cNvSpPr txBox="1"/>
          <p:nvPr/>
        </p:nvSpPr>
        <p:spPr>
          <a:xfrm>
            <a:off x="648875" y="5413598"/>
            <a:ext cx="523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Data Layer: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JSON файлы заданий</a:t>
            </a:r>
            <a:endParaRPr sz="2000"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625" y="430622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475" y="4868186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725" y="5467486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Архитектура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Model-View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5619750" y="260985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209975" y="2647950"/>
            <a:ext cx="1160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200" u="none" cap="none" strike="noStrike">
                <a:solidFill>
                  <a:srgbClr val="F5F5F5"/>
                </a:solidFill>
              </a:rPr>
              <a:t>Практическая </a:t>
            </a:r>
            <a:r>
              <a:rPr i="0" lang="en-US" sz="6200" u="none" cap="none" strike="noStrike">
                <a:solidFill>
                  <a:srgbClr val="DEFF9A"/>
                </a:solidFill>
              </a:rPr>
              <a:t>реализация</a:t>
            </a:r>
            <a:endParaRPr sz="1600"/>
          </a:p>
        </p:txBody>
      </p:sp>
      <p:sp>
        <p:nvSpPr>
          <p:cNvPr id="185" name="Google Shape;185;p19"/>
          <p:cNvSpPr txBox="1"/>
          <p:nvPr/>
        </p:nvSpPr>
        <p:spPr>
          <a:xfrm>
            <a:off x="486275" y="357135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CBD5E1"/>
                </a:solidFill>
              </a:rPr>
              <a:t>От проектирования интерфейса до алгоритмов аналитики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title="Screenshot_20260517_192352.png"/>
          <p:cNvPicPr preferRelativeResize="0"/>
          <p:nvPr/>
        </p:nvPicPr>
        <p:blipFill rotWithShape="1">
          <a:blip r:embed="rId3">
            <a:alphaModFix/>
          </a:blip>
          <a:srcRect b="0" l="1588" r="1588" t="0"/>
          <a:stretch/>
        </p:blipFill>
        <p:spPr>
          <a:xfrm>
            <a:off x="290931" y="3466252"/>
            <a:ext cx="5991531" cy="33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47675" y="405150"/>
            <a:ext cx="58347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Интерфейс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тренажера</a:t>
            </a:r>
            <a:endParaRPr sz="1600"/>
          </a:p>
        </p:txBody>
      </p:sp>
      <p:sp>
        <p:nvSpPr>
          <p:cNvPr id="192" name="Google Shape;192;p20"/>
          <p:cNvSpPr txBox="1"/>
          <p:nvPr/>
        </p:nvSpPr>
        <p:spPr>
          <a:xfrm>
            <a:off x="447675" y="1367545"/>
            <a:ext cx="49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Реализовано 3 ключевых режима:</a:t>
            </a:r>
            <a:endParaRPr sz="2000"/>
          </a:p>
        </p:txBody>
      </p:sp>
      <p:sp>
        <p:nvSpPr>
          <p:cNvPr id="193" name="Google Shape;193;p20"/>
          <p:cNvSpPr txBox="1"/>
          <p:nvPr/>
        </p:nvSpPr>
        <p:spPr>
          <a:xfrm>
            <a:off x="447675" y="1937545"/>
            <a:ext cx="49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Обучение (теория в PNG)</a:t>
            </a:r>
            <a:endParaRPr sz="2000"/>
          </a:p>
        </p:txBody>
      </p:sp>
      <p:sp>
        <p:nvSpPr>
          <p:cNvPr id="194" name="Google Shape;194;p20"/>
          <p:cNvSpPr txBox="1"/>
          <p:nvPr/>
        </p:nvSpPr>
        <p:spPr>
          <a:xfrm>
            <a:off x="388800" y="2409620"/>
            <a:ext cx="49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Тренировка (случайные задачи)</a:t>
            </a:r>
            <a:endParaRPr sz="2000"/>
          </a:p>
        </p:txBody>
      </p:sp>
      <p:sp>
        <p:nvSpPr>
          <p:cNvPr id="195" name="Google Shape;195;p20"/>
          <p:cNvSpPr txBox="1"/>
          <p:nvPr/>
        </p:nvSpPr>
        <p:spPr>
          <a:xfrm>
            <a:off x="447675" y="2881698"/>
            <a:ext cx="52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Полный вариант (10 заданий + таймер)</a:t>
            </a:r>
            <a:endParaRPr sz="2000"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" y="19899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2435221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" y="2880496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title="Screenshot_20260517_1924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3077" y="0"/>
            <a:ext cx="6188197" cy="33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title="Screenshot_20260517_19243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3075" y="3420208"/>
            <a:ext cx="6341176" cy="345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/>
        </p:nvSpPr>
        <p:spPr>
          <a:xfrm>
            <a:off x="304150" y="2446950"/>
            <a:ext cx="49191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</a:rPr>
              <a:t>Гистограмма позволяет мгновенно выявить "провальные" темы, требующие дополнительной отработки.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25125" y="471350"/>
            <a:ext cx="50250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Визуализация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прогресса</a:t>
            </a:r>
            <a:endParaRPr sz="1600"/>
          </a:p>
        </p:txBody>
      </p:sp>
      <p:pic>
        <p:nvPicPr>
          <p:cNvPr id="207" name="Google Shape;207;p21" title="Screenshot_20260518_2017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850" y="3801871"/>
            <a:ext cx="4919099" cy="2658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Screenshot_20260518_2059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850" y="868471"/>
            <a:ext cx="4919099" cy="248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0">
                <a:solidFill>
                  <a:srgbClr val="DEFF9A"/>
                </a:solidFill>
              </a:rPr>
              <a:t>Т</a:t>
            </a:r>
            <a:r>
              <a:rPr lang="en-US" sz="4250">
                <a:solidFill>
                  <a:srgbClr val="DEFF9A"/>
                </a:solidFill>
              </a:rPr>
              <a:t>естирование</a:t>
            </a:r>
            <a:r>
              <a:rPr lang="en-US" sz="4250">
                <a:solidFill>
                  <a:srgbClr val="F5F5F5"/>
                </a:solidFill>
              </a:rPr>
              <a:t> приложения</a:t>
            </a:r>
            <a:endParaRPr sz="1600"/>
          </a:p>
        </p:txBody>
      </p:sp>
      <p:pic>
        <p:nvPicPr>
          <p:cNvPr id="214" name="Google Shape;214;p22" title="photo_5210980784431373743_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100" y="1804850"/>
            <a:ext cx="2757849" cy="36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title="photo_5210980784431373737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93" y="1804875"/>
            <a:ext cx="5105200" cy="3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title="photo_5210980784431373739_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9672" y="1804875"/>
            <a:ext cx="2757849" cy="368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9744"/>
            <a:ext cx="11049000" cy="42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895350" y="1861244"/>
            <a:ext cx="1040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5F5F5"/>
                </a:solidFill>
              </a:rPr>
              <a:t>Демонстрация </a:t>
            </a:r>
            <a:r>
              <a:rPr i="0" lang="en-US" sz="6000" u="none" cap="none" strike="noStrike">
                <a:solidFill>
                  <a:srgbClr val="DEFF9A"/>
                </a:solidFill>
              </a:rPr>
              <a:t>приложения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143000" y="3080444"/>
            <a:ext cx="990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DEFF9A"/>
                </a:solidFill>
              </a:rPr>
              <a:t>Переходим к показу функционала </a:t>
            </a:r>
            <a:r>
              <a:rPr lang="en-US" sz="2400">
                <a:solidFill>
                  <a:srgbClr val="DEFF9A"/>
                </a:solidFill>
              </a:rPr>
              <a:t>приложения</a:t>
            </a:r>
            <a:endParaRPr/>
          </a:p>
        </p:txBody>
      </p:sp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4044255"/>
            <a:ext cx="7143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914400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DEFF9A"/>
                </a:solidFill>
              </a:rPr>
              <a:t>Цель достигнута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43375" y="3687950"/>
            <a:ext cx="29805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50" u="none" cap="none" strike="noStrike">
                <a:solidFill>
                  <a:srgbClr val="CBD5E1"/>
                </a:solidFill>
              </a:rPr>
              <a:t>Разработан полнофункциональный прототип тренажера, готовый к использованию в учебном процессе.</a:t>
            </a:r>
            <a:endParaRPr sz="1600"/>
          </a:p>
        </p:txBody>
      </p:sp>
      <p:pic>
        <p:nvPicPr>
          <p:cNvPr descr="image.png" id="237" name="Google Shape;23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4676775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DEFF9A"/>
                </a:solidFill>
              </a:rPr>
              <a:t>Гипотеза подтверждена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676700" y="3687960"/>
            <a:ext cx="28386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50" u="none" cap="none" strike="noStrike">
                <a:solidFill>
                  <a:srgbClr val="CBD5E1"/>
                </a:solidFill>
              </a:rPr>
              <a:t>Визуальная аналитика и учет времени повышают осознанность подготовки и помогают точечно отрабатывать ошибки.</a:t>
            </a:r>
            <a:endParaRPr sz="1600"/>
          </a:p>
        </p:txBody>
      </p:sp>
      <p:pic>
        <p:nvPicPr>
          <p:cNvPr descr="image.png" id="240" name="Google Shape;24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150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8439150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DEFF9A"/>
                </a:solidFill>
              </a:rPr>
              <a:t>Автономность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439150" y="3687950"/>
            <a:ext cx="2980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50" u="none" cap="none" strike="noStrike">
                <a:solidFill>
                  <a:srgbClr val="CBD5E1"/>
                </a:solidFill>
              </a:rPr>
              <a:t>Локальное десктопное решение обеспечивает стабильную работу без зависимости от интернет-соединения.</a:t>
            </a:r>
            <a:endParaRPr sz="1600"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900" y="251162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2987" y="251162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5362" y="251162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Основные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выводы</a:t>
            </a:r>
            <a:r>
              <a:rPr i="0" lang="en-US" sz="4250" u="none" cap="none" strike="noStrike">
                <a:solidFill>
                  <a:srgbClr val="F5F5F5"/>
                </a:solidFill>
              </a:rPr>
              <a:t> проекта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143000" y="1746051"/>
            <a:ext cx="89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Полный охват Государственны</a:t>
            </a:r>
            <a:r>
              <a:rPr b="1" lang="en-US" sz="2000">
                <a:solidFill>
                  <a:srgbClr val="CBD5E1"/>
                </a:solidFill>
              </a:rPr>
              <a:t>х</a:t>
            </a:r>
            <a:r>
              <a:rPr b="1" i="0" lang="en-US" sz="2000" u="none" cap="none" strike="noStrike">
                <a:solidFill>
                  <a:srgbClr val="CBD5E1"/>
                </a:solidFill>
              </a:rPr>
              <a:t> экзаме</a:t>
            </a:r>
            <a:r>
              <a:rPr b="1" lang="en-US" sz="2000">
                <a:solidFill>
                  <a:srgbClr val="CBD5E1"/>
                </a:solidFill>
              </a:rPr>
              <a:t>нов: добавить поддержку ОГЭ и ЕГЭ по всем предметам</a:t>
            </a:r>
            <a:endParaRPr sz="2000"/>
          </a:p>
        </p:txBody>
      </p:sp>
      <p:sp>
        <p:nvSpPr>
          <p:cNvPr id="253" name="Google Shape;253;p25"/>
          <p:cNvSpPr txBox="1"/>
          <p:nvPr/>
        </p:nvSpPr>
        <p:spPr>
          <a:xfrm>
            <a:off x="1143000" y="2824162"/>
            <a:ext cx="89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Геймификация: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Внедрение системы достижений и уровней мастерства для мотивации.</a:t>
            </a:r>
            <a:endParaRPr sz="2000"/>
          </a:p>
        </p:txBody>
      </p:sp>
      <p:sp>
        <p:nvSpPr>
          <p:cNvPr id="254" name="Google Shape;254;p25"/>
          <p:cNvSpPr txBox="1"/>
          <p:nvPr/>
        </p:nvSpPr>
        <p:spPr>
          <a:xfrm>
            <a:off x="1143000" y="3902273"/>
            <a:ext cx="89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Синхронизация: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Возможность облачного бэкапа статистики для работы с разных устройств.</a:t>
            </a:r>
            <a:endParaRPr sz="2000"/>
          </a:p>
        </p:txBody>
      </p:sp>
      <p:sp>
        <p:nvSpPr>
          <p:cNvPr id="255" name="Google Shape;255;p25"/>
          <p:cNvSpPr txBox="1"/>
          <p:nvPr/>
        </p:nvSpPr>
        <p:spPr>
          <a:xfrm>
            <a:off x="1143000" y="4980384"/>
            <a:ext cx="89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</a:rPr>
              <a:t>AI-помощник:</a:t>
            </a:r>
            <a:r>
              <a:rPr i="0" lang="en-US" sz="2000" u="none" cap="none" strike="noStrike">
                <a:solidFill>
                  <a:srgbClr val="CBD5E1"/>
                </a:solidFill>
              </a:rPr>
              <a:t> Автоматическая генерация рекомендаций на основе ошибок.</a:t>
            </a:r>
            <a:endParaRPr sz="2000"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1272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90837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8948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7059"/>
            <a:ext cx="381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Вектор развития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продукта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125" y="1997273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571500" y="1895298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5F5F5"/>
                </a:solidFill>
              </a:rPr>
              <a:t>Проект на GitHub</a:t>
            </a:r>
            <a:endParaRPr sz="2400"/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2642735"/>
            <a:ext cx="5238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CBD5E1"/>
                </a:solidFill>
              </a:rPr>
              <a:t>Весь исходный код приложения, структура JSON-базы заданий и модули аналитики размещены в открытом репозитории для ознакомления и доработки.</a:t>
            </a:r>
            <a:endParaRPr sz="2000"/>
          </a:p>
        </p:txBody>
      </p:sp>
      <p:pic>
        <p:nvPicPr>
          <p:cNvPr descr="image.png" id="269" name="Google Shape;2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5650" y="2006798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571500" y="571500"/>
            <a:ext cx="11601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450" u="none" cap="none" strike="noStrike">
                <a:solidFill>
                  <a:srgbClr val="F5F5F5"/>
                </a:solidFill>
              </a:rPr>
              <a:t>Открытый </a:t>
            </a:r>
            <a:r>
              <a:rPr i="0" lang="en-US" sz="4450" u="none" cap="none" strike="noStrike">
                <a:solidFill>
                  <a:srgbClr val="DEFF9A"/>
                </a:solidFill>
              </a:rPr>
              <a:t>исходный код</a:t>
            </a:r>
            <a:endParaRPr sz="1800"/>
          </a:p>
        </p:txBody>
      </p:sp>
      <p:pic>
        <p:nvPicPr>
          <p:cNvPr id="271" name="Google Shape;271;p26" title="free-icon-github-5968866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2725" y="146387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71500" y="5299075"/>
            <a:ext cx="4978200" cy="508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github.com/anton953/oge_ticher_app.git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2218650" y="1627225"/>
            <a:ext cx="77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DEFF9A"/>
                </a:solidFill>
              </a:rPr>
              <a:t>Благодарю за внимание к моему проекту!</a:t>
            </a:r>
            <a:endParaRPr sz="4600"/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3644987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CBD5E1"/>
                </a:solidFill>
              </a:rPr>
              <a:t>Проект "OGE Teacher App" готов к масштабированию и внедрению.</a:t>
            </a:r>
            <a:endParaRPr sz="1700"/>
          </a:p>
        </p:txBody>
      </p:sp>
      <p:sp>
        <p:nvSpPr>
          <p:cNvPr id="280" name="Google Shape;280;p27"/>
          <p:cNvSpPr txBox="1"/>
          <p:nvPr/>
        </p:nvSpPr>
        <p:spPr>
          <a:xfrm>
            <a:off x="571500" y="4110037"/>
            <a:ext cx="110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solidFill>
                  <a:srgbClr val="94A3B8"/>
                </a:solidFill>
              </a:rPr>
              <a:t>Все задачи выполнены в полном объеме. Цель достигнута.</a:t>
            </a:r>
            <a:br>
              <a:rPr i="0" lang="en-US" sz="1900" u="none" cap="none" strike="noStrike">
                <a:solidFill>
                  <a:schemeClr val="dk1"/>
                </a:solidFill>
              </a:rPr>
            </a:br>
            <a:r>
              <a:rPr i="0" lang="en-US" sz="1900" u="none" cap="none" strike="noStrike">
                <a:solidFill>
                  <a:srgbClr val="DEFF9A"/>
                </a:solidFill>
              </a:rPr>
              <a:t>СПб, 2026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