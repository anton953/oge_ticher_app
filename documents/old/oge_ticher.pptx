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svg" ContentType="image/sv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19.png" ContentType="image/png"/>
  <Override PartName="/ppt/media/image2.png" ContentType="image/png"/>
  <Override PartName="/ppt/media/image20.png" ContentType="image/png"/>
  <Override PartName="/ppt/media/image18.png" ContentType="image/png"/>
  <Override PartName="/ppt/media/image16.png" ContentType="image/png"/>
  <Override PartName="/ppt/media/image7.svg" ContentType="image/svg"/>
  <Override PartName="/ppt/media/image11.svg" ContentType="image/sv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.png" ContentType="image/png"/>
  <Override PartName="/ppt/media/image10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</p:sldMasterIdLst>
  <p:notesMasterIdLst>
    <p:notesMasterId r:id="rId11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8F11FA2-F5AB-4D92-B911-642767368ACB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58616B4-632A-45B7-97D4-00ED7ED93FC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844DE8D-EED7-4086-9296-A32E27B1687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07B390-EA01-49FD-ACB4-E73C5C22027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7B65B5-907B-417B-B2D0-BCC6C5B2AF1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D3CD775-7DBF-476D-AF3F-442C16DB2CA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62EC7D5-3019-47A6-B449-3CAB5454D73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2B3D2BB-0949-455A-A305-73CD06F0E78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F3498E1-28CF-42A8-B073-B8834C167D4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Shape 1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f7f7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9080" y="4844520"/>
            <a:ext cx="1071000" cy="2552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Shape 1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f7f7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9080" y="4844520"/>
            <a:ext cx="1071000" cy="25524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f7f7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9080" y="4844520"/>
            <a:ext cx="1071000" cy="255240"/>
          </a:xfrm>
          <a:prstGeom prst="rect">
            <a:avLst/>
          </a:prstGeom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f7f7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9080" y="4844520"/>
            <a:ext cx="1071000" cy="25524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f7f7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9080" y="4844520"/>
            <a:ext cx="1071000" cy="255240"/>
          </a:xfrm>
          <a:prstGeom prst="rect">
            <a:avLst/>
          </a:prstGeom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1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f7f7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9080" y="4844520"/>
            <a:ext cx="1071000" cy="255240"/>
          </a:xfrm>
          <a:prstGeom prst="rect">
            <a:avLst/>
          </a:prstGeom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1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f7f7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9080" y="4844520"/>
            <a:ext cx="1071000" cy="255240"/>
          </a:xfrm>
          <a:prstGeom prst="rect">
            <a:avLst/>
          </a:prstGeom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1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f7f7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9080" y="4844520"/>
            <a:ext cx="1071000" cy="255240"/>
          </a:xfrm>
          <a:prstGeom prst="rect">
            <a:avLst/>
          </a:prstGeom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svg"/><Relationship Id="rId3" Type="http://schemas.openxmlformats.org/officeDocument/2006/relationships/image" Target="../media/image8.png"/><Relationship Id="rId4" Type="http://schemas.openxmlformats.org/officeDocument/2006/relationships/image" Target="../media/image9.svg"/><Relationship Id="rId5" Type="http://schemas.openxmlformats.org/officeDocument/2006/relationships/image" Target="../media/image10.png"/><Relationship Id="rId6" Type="http://schemas.openxmlformats.org/officeDocument/2006/relationships/image" Target="../media/image11.sv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7.png"/><Relationship Id="rId3" Type="http://schemas.openxmlformats.org/officeDocument/2006/relationships/image" Target="../media/image17.png"/><Relationship Id="rId4" Type="http://schemas.openxmlformats.org/officeDocument/2006/relationships/image" Target="../media/image17.png"/><Relationship Id="rId5" Type="http://schemas.openxmlformats.org/officeDocument/2006/relationships/image" Target="../media/image17.png"/><Relationship Id="rId6" Type="http://schemas.openxmlformats.org/officeDocument/2006/relationships/image" Target="../media/image17.png"/><Relationship Id="rId7" Type="http://schemas.openxmlformats.org/officeDocument/2006/relationships/slideLayout" Target="../slideLayouts/slideLayout8.xml"/><Relationship Id="rId8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/>
          <p:nvPr/>
        </p:nvSpPr>
        <p:spPr>
          <a:xfrm>
            <a:off x="540000" y="1753920"/>
            <a:ext cx="4634280" cy="11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999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383838"/>
                </a:solidFill>
                <a:latin typeface="Patrick Hand"/>
                <a:ea typeface="Patrick Hand"/>
              </a:rPr>
              <a:t>Разработка интерактивного приложения для подготовки к ОГЭ по информатике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1"/>
          <p:cNvSpPr/>
          <p:nvPr/>
        </p:nvSpPr>
        <p:spPr>
          <a:xfrm>
            <a:off x="540000" y="3142440"/>
            <a:ext cx="46342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Индивидуальный итоговый проект 2026 года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7776000" y="4608000"/>
            <a:ext cx="1295640" cy="463320"/>
          </a:xfrm>
          <a:prstGeom prst="rect">
            <a:avLst/>
          </a:prstGeom>
          <a:solidFill>
            <a:srgbClr val="f7f7f7"/>
          </a:solidFill>
          <a:ln w="0">
            <a:solidFill>
              <a:srgbClr val="f7f7f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5479920" y="432000"/>
            <a:ext cx="2944080" cy="1656000"/>
          </a:xfrm>
          <a:prstGeom prst="rect">
            <a:avLst/>
          </a:prstGeom>
          <a:ln w="0">
            <a:noFill/>
          </a:ln>
        </p:spPr>
      </p:pic>
      <p:pic>
        <p:nvPicPr>
          <p:cNvPr id="50" name="" descr=""/>
          <p:cNvPicPr/>
          <p:nvPr/>
        </p:nvPicPr>
        <p:blipFill>
          <a:blip r:embed="rId2"/>
          <a:stretch/>
        </p:blipFill>
        <p:spPr>
          <a:xfrm>
            <a:off x="5544000" y="2448000"/>
            <a:ext cx="3527640" cy="198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540000" y="955440"/>
            <a:ext cx="332604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999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383838"/>
                </a:solidFill>
                <a:latin typeface="Patrick Hand"/>
                <a:ea typeface="Patrick Hand"/>
              </a:rPr>
              <a:t>Актуальность проекта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540000" y="1726920"/>
            <a:ext cx="154224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Проблема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2"/>
          <p:cNvSpPr/>
          <p:nvPr/>
        </p:nvSpPr>
        <p:spPr>
          <a:xfrm>
            <a:off x="540000" y="2073960"/>
            <a:ext cx="2128680" cy="19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8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Существующие онлайн-платформы («Решу ОГЭ», ФИПИ) обладают широкой базой заданий, но лишены глубокой персонализированной аналитики и возможности работы в оффлайн-режиме.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3050280" y="1726920"/>
            <a:ext cx="154224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Решение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3050280" y="2073960"/>
            <a:ext cx="2128680" cy="172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8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Десктопное приложение на Python с визуализацией прогресса, таймерами и имитацией экзаменационной среды для эффективной подготовки.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8064000" y="4392000"/>
            <a:ext cx="1007640" cy="719640"/>
          </a:xfrm>
          <a:prstGeom prst="rect">
            <a:avLst/>
          </a:prstGeom>
          <a:solidFill>
            <a:srgbClr val="f7f7f7"/>
          </a:solidFill>
          <a:ln w="0">
            <a:solidFill>
              <a:srgbClr val="f7f7f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" name="" descr=""/>
          <p:cNvPicPr/>
          <p:nvPr/>
        </p:nvPicPr>
        <p:blipFill>
          <a:blip r:embed="rId1"/>
          <a:stretch/>
        </p:blipFill>
        <p:spPr>
          <a:xfrm>
            <a:off x="5684760" y="360000"/>
            <a:ext cx="2955240" cy="1662120"/>
          </a:xfrm>
          <a:prstGeom prst="rect">
            <a:avLst/>
          </a:prstGeom>
          <a:ln w="0">
            <a:noFill/>
          </a:ln>
        </p:spPr>
      </p:pic>
      <p:pic>
        <p:nvPicPr>
          <p:cNvPr id="58" name="" descr=""/>
          <p:cNvPicPr/>
          <p:nvPr/>
        </p:nvPicPr>
        <p:blipFill>
          <a:blip r:embed="rId2"/>
          <a:stretch/>
        </p:blipFill>
        <p:spPr>
          <a:xfrm>
            <a:off x="5400000" y="2304000"/>
            <a:ext cx="3584520" cy="2016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/>
          <p:nvPr/>
        </p:nvSpPr>
        <p:spPr>
          <a:xfrm>
            <a:off x="540000" y="781920"/>
            <a:ext cx="538560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999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383838"/>
                </a:solidFill>
                <a:latin typeface="Patrick Hand"/>
                <a:ea typeface="Patrick Hand"/>
              </a:rPr>
              <a:t>Современный ОГЭ по информатике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1"/>
          <p:cNvSpPr/>
          <p:nvPr/>
        </p:nvSpPr>
        <p:spPr>
          <a:xfrm>
            <a:off x="540000" y="1476360"/>
            <a:ext cx="2584440" cy="2216880"/>
          </a:xfrm>
          <a:prstGeom prst="roundRect">
            <a:avLst>
              <a:gd name="adj" fmla="val 2922"/>
            </a:avLst>
          </a:prstGeom>
          <a:solidFill>
            <a:srgbClr val="e6e6e6"/>
          </a:solidFill>
          <a:ln w="9525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2"/>
          <p:cNvSpPr/>
          <p:nvPr/>
        </p:nvSpPr>
        <p:spPr>
          <a:xfrm>
            <a:off x="703800" y="1640160"/>
            <a:ext cx="462240" cy="462240"/>
          </a:xfrm>
          <a:prstGeom prst="roundRect">
            <a:avLst>
              <a:gd name="adj" fmla="val 12346045"/>
            </a:avLst>
          </a:pr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30880" y="1767240"/>
            <a:ext cx="207720" cy="207720"/>
          </a:xfrm>
          <a:prstGeom prst="rect">
            <a:avLst/>
          </a:prstGeom>
          <a:ln w="0">
            <a:noFill/>
          </a:ln>
        </p:spPr>
      </p:pic>
      <p:sp>
        <p:nvSpPr>
          <p:cNvPr id="63" name="Text 3"/>
          <p:cNvSpPr/>
          <p:nvPr/>
        </p:nvSpPr>
        <p:spPr>
          <a:xfrm>
            <a:off x="703800" y="2257200"/>
            <a:ext cx="205200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Полностью компьютерный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4"/>
          <p:cNvSpPr/>
          <p:nvPr/>
        </p:nvSpPr>
        <p:spPr>
          <a:xfrm>
            <a:off x="703800" y="2542680"/>
            <a:ext cx="2256840" cy="9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8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16 заданий в порядке нарастающей сложности, сдача на компьютере с 2021 года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5"/>
          <p:cNvSpPr/>
          <p:nvPr/>
        </p:nvSpPr>
        <p:spPr>
          <a:xfrm>
            <a:off x="3279600" y="1476360"/>
            <a:ext cx="2584440" cy="2216880"/>
          </a:xfrm>
          <a:prstGeom prst="roundRect">
            <a:avLst>
              <a:gd name="adj" fmla="val 2922"/>
            </a:avLst>
          </a:prstGeom>
          <a:solidFill>
            <a:srgbClr val="e6e6e6"/>
          </a:solidFill>
          <a:ln w="9525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6"/>
          <p:cNvSpPr/>
          <p:nvPr/>
        </p:nvSpPr>
        <p:spPr>
          <a:xfrm>
            <a:off x="3443040" y="1640160"/>
            <a:ext cx="462240" cy="462240"/>
          </a:xfrm>
          <a:prstGeom prst="roundRect">
            <a:avLst>
              <a:gd name="adj" fmla="val 12346045"/>
            </a:avLst>
          </a:pr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570480" y="1767240"/>
            <a:ext cx="207720" cy="207720"/>
          </a:xfrm>
          <a:prstGeom prst="rect">
            <a:avLst/>
          </a:prstGeom>
          <a:ln w="0">
            <a:noFill/>
          </a:ln>
        </p:spPr>
      </p:pic>
      <p:sp>
        <p:nvSpPr>
          <p:cNvPr id="68" name="Text 7"/>
          <p:cNvSpPr/>
          <p:nvPr/>
        </p:nvSpPr>
        <p:spPr>
          <a:xfrm>
            <a:off x="3443040" y="2257200"/>
            <a:ext cx="154224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150 минут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8"/>
          <p:cNvSpPr/>
          <p:nvPr/>
        </p:nvSpPr>
        <p:spPr>
          <a:xfrm>
            <a:off x="3443040" y="2542680"/>
            <a:ext cx="225684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8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Ограниченное время для выполнения всех заданий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9"/>
          <p:cNvSpPr/>
          <p:nvPr/>
        </p:nvSpPr>
        <p:spPr>
          <a:xfrm>
            <a:off x="6018840" y="1476360"/>
            <a:ext cx="2584440" cy="2216880"/>
          </a:xfrm>
          <a:prstGeom prst="roundRect">
            <a:avLst>
              <a:gd name="adj" fmla="val 2922"/>
            </a:avLst>
          </a:prstGeom>
          <a:solidFill>
            <a:srgbClr val="e6e6e6"/>
          </a:solidFill>
          <a:ln w="9525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0"/>
          <p:cNvSpPr/>
          <p:nvPr/>
        </p:nvSpPr>
        <p:spPr>
          <a:xfrm>
            <a:off x="6182640" y="1640160"/>
            <a:ext cx="462240" cy="462240"/>
          </a:xfrm>
          <a:prstGeom prst="roundRect">
            <a:avLst>
              <a:gd name="adj" fmla="val 12346045"/>
            </a:avLst>
          </a:pr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309720" y="1767240"/>
            <a:ext cx="207720" cy="207720"/>
          </a:xfrm>
          <a:prstGeom prst="rect">
            <a:avLst/>
          </a:prstGeom>
          <a:ln w="0">
            <a:noFill/>
          </a:ln>
        </p:spPr>
      </p:pic>
      <p:sp>
        <p:nvSpPr>
          <p:cNvPr id="73" name="Text 11"/>
          <p:cNvSpPr/>
          <p:nvPr/>
        </p:nvSpPr>
        <p:spPr>
          <a:xfrm>
            <a:off x="6182640" y="2257200"/>
            <a:ext cx="166428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Практические навыки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2"/>
          <p:cNvSpPr/>
          <p:nvPr/>
        </p:nvSpPr>
        <p:spPr>
          <a:xfrm>
            <a:off x="6182640" y="2542680"/>
            <a:ext cx="2256840" cy="9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8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Алгоритмизация, программирование, электронные таблицы, базы данных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13"/>
          <p:cNvSpPr/>
          <p:nvPr/>
        </p:nvSpPr>
        <p:spPr>
          <a:xfrm>
            <a:off x="540000" y="3867480"/>
            <a:ext cx="80632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8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Переход на компьютерный формат требует подготовки в среде, максимально приближенной к экзаменационной.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8064000" y="4680000"/>
            <a:ext cx="1007640" cy="431640"/>
          </a:xfrm>
          <a:prstGeom prst="rect">
            <a:avLst/>
          </a:prstGeom>
          <a:solidFill>
            <a:srgbClr val="f7f7f7"/>
          </a:solidFill>
          <a:ln w="0">
            <a:solidFill>
              <a:srgbClr val="f7f7f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0"/>
          <p:cNvSpPr/>
          <p:nvPr/>
        </p:nvSpPr>
        <p:spPr>
          <a:xfrm>
            <a:off x="540000" y="753120"/>
            <a:ext cx="548748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999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383838"/>
                </a:solidFill>
                <a:latin typeface="Patrick Hand"/>
                <a:ea typeface="Patrick Hand"/>
              </a:rPr>
              <a:t>Обзор существующих инструментов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1"/>
          <p:cNvSpPr/>
          <p:nvPr/>
        </p:nvSpPr>
        <p:spPr>
          <a:xfrm>
            <a:off x="540000" y="1447560"/>
            <a:ext cx="2584440" cy="1865880"/>
          </a:xfrm>
          <a:prstGeom prst="roundRect">
            <a:avLst>
              <a:gd name="adj" fmla="val 4899"/>
            </a:avLst>
          </a:prstGeom>
          <a:solidFill>
            <a:srgbClr val="f7f7f7"/>
          </a:solidFill>
          <a:ln w="190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"/>
          <p:cNvSpPr/>
          <p:nvPr/>
        </p:nvSpPr>
        <p:spPr>
          <a:xfrm>
            <a:off x="520920" y="1447560"/>
            <a:ext cx="75600" cy="1865880"/>
          </a:xfrm>
          <a:prstGeom prst="roundRect">
            <a:avLst>
              <a:gd name="adj" fmla="val 85050"/>
            </a:avLst>
          </a:pr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3"/>
          <p:cNvSpPr/>
          <p:nvPr/>
        </p:nvSpPr>
        <p:spPr>
          <a:xfrm>
            <a:off x="770400" y="1620720"/>
            <a:ext cx="154224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Решу ОГЭ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4"/>
          <p:cNvSpPr/>
          <p:nvPr/>
        </p:nvSpPr>
        <p:spPr>
          <a:xfrm>
            <a:off x="770400" y="1906200"/>
            <a:ext cx="218052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8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Обширная база заданий, но устаревший интерфейс, отсутствие глубокой аналитики, только онлайн-режим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5"/>
          <p:cNvSpPr/>
          <p:nvPr/>
        </p:nvSpPr>
        <p:spPr>
          <a:xfrm>
            <a:off x="3279600" y="1447560"/>
            <a:ext cx="2584440" cy="1865880"/>
          </a:xfrm>
          <a:prstGeom prst="roundRect">
            <a:avLst>
              <a:gd name="adj" fmla="val 4899"/>
            </a:avLst>
          </a:prstGeom>
          <a:solidFill>
            <a:srgbClr val="f7f7f7"/>
          </a:solidFill>
          <a:ln w="190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6"/>
          <p:cNvSpPr/>
          <p:nvPr/>
        </p:nvSpPr>
        <p:spPr>
          <a:xfrm>
            <a:off x="3260520" y="1447560"/>
            <a:ext cx="75600" cy="1865880"/>
          </a:xfrm>
          <a:prstGeom prst="roundRect">
            <a:avLst>
              <a:gd name="adj" fmla="val 85050"/>
            </a:avLst>
          </a:pr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7"/>
          <p:cNvSpPr/>
          <p:nvPr/>
        </p:nvSpPr>
        <p:spPr>
          <a:xfrm>
            <a:off x="3510000" y="1620720"/>
            <a:ext cx="154224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Банк ФИПИ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8"/>
          <p:cNvSpPr/>
          <p:nvPr/>
        </p:nvSpPr>
        <p:spPr>
          <a:xfrm>
            <a:off x="3510000" y="1906200"/>
            <a:ext cx="2180520" cy="9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8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Официальные задания, но нет автоматической проверки и отслеживания прогресса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9"/>
          <p:cNvSpPr/>
          <p:nvPr/>
        </p:nvSpPr>
        <p:spPr>
          <a:xfrm>
            <a:off x="6018840" y="1447560"/>
            <a:ext cx="2584440" cy="1865880"/>
          </a:xfrm>
          <a:prstGeom prst="roundRect">
            <a:avLst>
              <a:gd name="adj" fmla="val 4899"/>
            </a:avLst>
          </a:prstGeom>
          <a:solidFill>
            <a:srgbClr val="f7f7f7"/>
          </a:solidFill>
          <a:ln w="190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10"/>
          <p:cNvSpPr/>
          <p:nvPr/>
        </p:nvSpPr>
        <p:spPr>
          <a:xfrm>
            <a:off x="5999760" y="1447560"/>
            <a:ext cx="75600" cy="1865880"/>
          </a:xfrm>
          <a:prstGeom prst="roundRect">
            <a:avLst>
              <a:gd name="adj" fmla="val 85050"/>
            </a:avLst>
          </a:pr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11"/>
          <p:cNvSpPr/>
          <p:nvPr/>
        </p:nvSpPr>
        <p:spPr>
          <a:xfrm>
            <a:off x="6249240" y="1620720"/>
            <a:ext cx="154224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Сайт Полякова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12"/>
          <p:cNvSpPr/>
          <p:nvPr/>
        </p:nvSpPr>
        <p:spPr>
          <a:xfrm>
            <a:off x="6249240" y="1906200"/>
            <a:ext cx="2180520" cy="9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8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Высокое методическое качество, но ориентирован на теорию, а не на тренировку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13"/>
          <p:cNvSpPr/>
          <p:nvPr/>
        </p:nvSpPr>
        <p:spPr>
          <a:xfrm>
            <a:off x="540000" y="3487680"/>
            <a:ext cx="8063280" cy="901800"/>
          </a:xfrm>
          <a:prstGeom prst="roundRect">
            <a:avLst>
              <a:gd name="adj" fmla="val 7180"/>
            </a:avLst>
          </a:prstGeom>
          <a:solidFill>
            <a:srgbClr val="fcf2b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Image 0" descr="preencoded.png"/>
          <p:cNvPicPr/>
          <p:nvPr/>
        </p:nvPicPr>
        <p:blipFill>
          <a:blip r:embed="rId1"/>
          <a:stretch/>
        </p:blipFill>
        <p:spPr>
          <a:xfrm>
            <a:off x="694440" y="3721680"/>
            <a:ext cx="192240" cy="153720"/>
          </a:xfrm>
          <a:prstGeom prst="rect">
            <a:avLst/>
          </a:prstGeom>
          <a:ln w="0">
            <a:noFill/>
          </a:ln>
        </p:spPr>
      </p:pic>
      <p:sp>
        <p:nvSpPr>
          <p:cNvPr id="92" name="Text 14"/>
          <p:cNvSpPr/>
          <p:nvPr/>
        </p:nvSpPr>
        <p:spPr>
          <a:xfrm>
            <a:off x="1041480" y="3680280"/>
            <a:ext cx="740772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8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Patrick Hand"/>
                <a:ea typeface="Patrick Hand"/>
              </a:rPr>
              <a:t>Ни одна платформа не сочетает большой базы заданий, глубокой аналитики, современного интерфейса и оффлайн-режима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7920000" y="4752000"/>
            <a:ext cx="1151640" cy="359640"/>
          </a:xfrm>
          <a:prstGeom prst="rect">
            <a:avLst/>
          </a:prstGeom>
          <a:solidFill>
            <a:srgbClr val="f7f7f7"/>
          </a:solidFill>
          <a:ln w="0">
            <a:solidFill>
              <a:srgbClr val="f7f7f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/>
          <p:nvPr/>
        </p:nvSpPr>
        <p:spPr>
          <a:xfrm>
            <a:off x="540000" y="561960"/>
            <a:ext cx="608868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999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383838"/>
                </a:solidFill>
                <a:latin typeface="Patrick Hand"/>
                <a:ea typeface="Patrick Hand"/>
              </a:rPr>
              <a:t>Результаты исследования потребностей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"/>
          <p:cNvSpPr/>
          <p:nvPr/>
        </p:nvSpPr>
        <p:spPr>
          <a:xfrm>
            <a:off x="870840" y="2259360"/>
            <a:ext cx="1897200" cy="38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999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383838"/>
                </a:solidFill>
                <a:latin typeface="Patrick Hand"/>
                <a:ea typeface="Patrick Hand"/>
              </a:rPr>
              <a:t>52%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Image 0" descr="preencoded.png"/>
          <p:cNvPicPr/>
          <p:nvPr/>
        </p:nvPicPr>
        <p:blipFill>
          <a:blip r:embed="rId1"/>
          <a:stretch/>
        </p:blipFill>
        <p:spPr>
          <a:xfrm>
            <a:off x="662400" y="1294920"/>
            <a:ext cx="2313720" cy="2313720"/>
          </a:xfrm>
          <a:prstGeom prst="rect">
            <a:avLst/>
          </a:prstGeom>
          <a:ln w="0">
            <a:noFill/>
          </a:ln>
        </p:spPr>
      </p:pic>
      <p:sp>
        <p:nvSpPr>
          <p:cNvPr id="97" name="Text 2"/>
          <p:cNvSpPr/>
          <p:nvPr/>
        </p:nvSpPr>
        <p:spPr>
          <a:xfrm>
            <a:off x="963000" y="3802320"/>
            <a:ext cx="171252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15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Критическая важность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3"/>
          <p:cNvSpPr/>
          <p:nvPr/>
        </p:nvSpPr>
        <p:spPr>
          <a:xfrm>
            <a:off x="540000" y="4087800"/>
            <a:ext cx="255852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ts val="18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Визуализации «слабых тем» для эффективной подготовки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4"/>
          <p:cNvSpPr/>
          <p:nvPr/>
        </p:nvSpPr>
        <p:spPr>
          <a:xfrm>
            <a:off x="3623040" y="2259360"/>
            <a:ext cx="1897200" cy="38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999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383838"/>
                </a:solidFill>
                <a:latin typeface="Patrick Hand"/>
                <a:ea typeface="Patrick Hand"/>
              </a:rPr>
              <a:t>60%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Image 1" descr="preencoded.png"/>
          <p:cNvPicPr/>
          <p:nvPr/>
        </p:nvPicPr>
        <p:blipFill>
          <a:blip r:embed="rId2"/>
          <a:stretch/>
        </p:blipFill>
        <p:spPr>
          <a:xfrm>
            <a:off x="3414600" y="1294920"/>
            <a:ext cx="2313720" cy="2313720"/>
          </a:xfrm>
          <a:prstGeom prst="rect">
            <a:avLst/>
          </a:prstGeom>
          <a:ln w="0">
            <a:noFill/>
          </a:ln>
        </p:spPr>
      </p:pic>
      <p:sp>
        <p:nvSpPr>
          <p:cNvPr id="101" name="Text 5"/>
          <p:cNvSpPr/>
          <p:nvPr/>
        </p:nvSpPr>
        <p:spPr>
          <a:xfrm>
            <a:off x="3624840" y="3802320"/>
            <a:ext cx="189360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15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Функциональный запрос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6"/>
          <p:cNvSpPr/>
          <p:nvPr/>
        </p:nvSpPr>
        <p:spPr>
          <a:xfrm>
            <a:off x="3292200" y="4087800"/>
            <a:ext cx="255852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ts val="18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Наличие встроенного таймера и динамических графиков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7"/>
          <p:cNvSpPr/>
          <p:nvPr/>
        </p:nvSpPr>
        <p:spPr>
          <a:xfrm>
            <a:off x="6375240" y="2259360"/>
            <a:ext cx="1897200" cy="38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999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383838"/>
                </a:solidFill>
                <a:latin typeface="Patrick Hand"/>
                <a:ea typeface="Patrick Hand"/>
              </a:rPr>
              <a:t>84%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Image 2" descr="preencoded.png"/>
          <p:cNvPicPr/>
          <p:nvPr/>
        </p:nvPicPr>
        <p:blipFill>
          <a:blip r:embed="rId3"/>
          <a:stretch/>
        </p:blipFill>
        <p:spPr>
          <a:xfrm>
            <a:off x="6167160" y="1294920"/>
            <a:ext cx="2313720" cy="2313720"/>
          </a:xfrm>
          <a:prstGeom prst="rect">
            <a:avLst/>
          </a:prstGeom>
          <a:ln w="0">
            <a:noFill/>
          </a:ln>
        </p:spPr>
      </p:pic>
      <p:sp>
        <p:nvSpPr>
          <p:cNvPr id="105" name="Text 8"/>
          <p:cNvSpPr/>
          <p:nvPr/>
        </p:nvSpPr>
        <p:spPr>
          <a:xfrm>
            <a:off x="6219000" y="3802320"/>
            <a:ext cx="220968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15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Готовность к использованию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9"/>
          <p:cNvSpPr/>
          <p:nvPr/>
        </p:nvSpPr>
        <p:spPr>
          <a:xfrm>
            <a:off x="6044760" y="4087800"/>
            <a:ext cx="255852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ts val="18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Учащихся готовы использовать десктопное приложение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7992000" y="4752000"/>
            <a:ext cx="1079640" cy="359640"/>
          </a:xfrm>
          <a:prstGeom prst="rect">
            <a:avLst/>
          </a:prstGeom>
          <a:solidFill>
            <a:srgbClr val="f7f7f7"/>
          </a:solidFill>
          <a:ln w="0">
            <a:solidFill>
              <a:srgbClr val="f7f7f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 0"/>
          <p:cNvSpPr/>
          <p:nvPr/>
        </p:nvSpPr>
        <p:spPr>
          <a:xfrm>
            <a:off x="540000" y="1287360"/>
            <a:ext cx="385092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999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383838"/>
                </a:solidFill>
                <a:latin typeface="Patrick Hand"/>
                <a:ea typeface="Patrick Hand"/>
              </a:rPr>
              <a:t>Архитектура приложения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"/>
          <p:cNvSpPr/>
          <p:nvPr/>
        </p:nvSpPr>
        <p:spPr>
          <a:xfrm>
            <a:off x="540000" y="2058840"/>
            <a:ext cx="154224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Технологии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2"/>
          <p:cNvSpPr/>
          <p:nvPr/>
        </p:nvSpPr>
        <p:spPr>
          <a:xfrm>
            <a:off x="540000" y="2405880"/>
            <a:ext cx="1627560" cy="139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ts val="1899"/>
              </a:lnSpc>
              <a:buClr>
                <a:srgbClr val="38383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Python 3.x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ts val="1899"/>
              </a:lnSpc>
              <a:buClr>
                <a:srgbClr val="38383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PySide6 (GUI)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ts val="1899"/>
              </a:lnSpc>
              <a:buClr>
                <a:srgbClr val="38383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QtCharts (визуализация)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ts val="1899"/>
              </a:lnSpc>
              <a:buClr>
                <a:srgbClr val="38383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JSON (хранилище)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3"/>
          <p:cNvSpPr/>
          <p:nvPr/>
        </p:nvSpPr>
        <p:spPr>
          <a:xfrm>
            <a:off x="2549160" y="2058840"/>
            <a:ext cx="154224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Модули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4"/>
          <p:cNvSpPr/>
          <p:nvPr/>
        </p:nvSpPr>
        <p:spPr>
          <a:xfrm>
            <a:off x="2549160" y="2405880"/>
            <a:ext cx="2629800" cy="84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ts val="1899"/>
              </a:lnSpc>
              <a:buClr>
                <a:srgbClr val="38383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TaskManager — загрузка вопросов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ts val="1899"/>
              </a:lnSpc>
              <a:buClr>
                <a:srgbClr val="38383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StatsManager — аналитика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ts val="1899"/>
              </a:lnSpc>
              <a:buClr>
                <a:srgbClr val="38383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GUI-виджеты — интерфейс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7992000" y="4752000"/>
            <a:ext cx="1079640" cy="359640"/>
          </a:xfrm>
          <a:prstGeom prst="rect">
            <a:avLst/>
          </a:prstGeom>
          <a:solidFill>
            <a:srgbClr val="f7f7f7"/>
          </a:solidFill>
          <a:ln w="0">
            <a:solidFill>
              <a:srgbClr val="f7f7f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5400000" y="1440000"/>
            <a:ext cx="3448080" cy="1939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0"/>
          <p:cNvSpPr/>
          <p:nvPr/>
        </p:nvSpPr>
        <p:spPr>
          <a:xfrm>
            <a:off x="540000" y="747000"/>
            <a:ext cx="475236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999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383838"/>
                </a:solidFill>
                <a:latin typeface="Patrick Hand"/>
                <a:ea typeface="Patrick Hand"/>
              </a:rPr>
              <a:t>Функциональные возможности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1"/>
          <p:cNvSpPr/>
          <p:nvPr/>
        </p:nvSpPr>
        <p:spPr>
          <a:xfrm>
            <a:off x="559440" y="1433880"/>
            <a:ext cx="346320" cy="400320"/>
          </a:xfrm>
          <a:prstGeom prst="roundRect">
            <a:avLst>
              <a:gd name="adj" fmla="val 9880"/>
            </a:avLst>
          </a:prstGeom>
          <a:solidFill>
            <a:srgbClr val="dfdf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" name="Image 0" descr="preencoded.png"/>
          <p:cNvPicPr/>
          <p:nvPr/>
        </p:nvPicPr>
        <p:blipFill>
          <a:blip r:embed="rId1"/>
          <a:stretch/>
        </p:blipFill>
        <p:spPr>
          <a:xfrm>
            <a:off x="636480" y="1551960"/>
            <a:ext cx="192240" cy="153720"/>
          </a:xfrm>
          <a:prstGeom prst="rect">
            <a:avLst/>
          </a:prstGeom>
          <a:ln w="0">
            <a:noFill/>
          </a:ln>
        </p:spPr>
      </p:pic>
      <p:sp>
        <p:nvSpPr>
          <p:cNvPr id="118" name="Text 2"/>
          <p:cNvSpPr/>
          <p:nvPr/>
        </p:nvSpPr>
        <p:spPr>
          <a:xfrm>
            <a:off x="1118520" y="1441440"/>
            <a:ext cx="154224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Обучение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3"/>
          <p:cNvSpPr/>
          <p:nvPr/>
        </p:nvSpPr>
        <p:spPr>
          <a:xfrm>
            <a:off x="1118520" y="1726920"/>
            <a:ext cx="33562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8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Теоретический материал по каждой теме с изображениями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4"/>
          <p:cNvSpPr/>
          <p:nvPr/>
        </p:nvSpPr>
        <p:spPr>
          <a:xfrm>
            <a:off x="4687920" y="1433880"/>
            <a:ext cx="346320" cy="400320"/>
          </a:xfrm>
          <a:prstGeom prst="roundRect">
            <a:avLst>
              <a:gd name="adj" fmla="val 9880"/>
            </a:avLst>
          </a:prstGeom>
          <a:solidFill>
            <a:srgbClr val="dfdf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Image 1" descr="preencoded.png"/>
          <p:cNvPicPr/>
          <p:nvPr/>
        </p:nvPicPr>
        <p:blipFill>
          <a:blip r:embed="rId2"/>
          <a:stretch/>
        </p:blipFill>
        <p:spPr>
          <a:xfrm>
            <a:off x="4764960" y="1551960"/>
            <a:ext cx="192240" cy="153720"/>
          </a:xfrm>
          <a:prstGeom prst="rect">
            <a:avLst/>
          </a:prstGeom>
          <a:ln w="0">
            <a:noFill/>
          </a:ln>
        </p:spPr>
      </p:pic>
      <p:sp>
        <p:nvSpPr>
          <p:cNvPr id="122" name="Text 5"/>
          <p:cNvSpPr/>
          <p:nvPr/>
        </p:nvSpPr>
        <p:spPr>
          <a:xfrm>
            <a:off x="5247000" y="1441440"/>
            <a:ext cx="154224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Тренировка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6"/>
          <p:cNvSpPr/>
          <p:nvPr/>
        </p:nvSpPr>
        <p:spPr>
          <a:xfrm>
            <a:off x="5247000" y="1726920"/>
            <a:ext cx="33562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8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Решение отдельных заданий с немедленной проверкой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7"/>
          <p:cNvSpPr/>
          <p:nvPr/>
        </p:nvSpPr>
        <p:spPr>
          <a:xfrm>
            <a:off x="559440" y="2521440"/>
            <a:ext cx="346320" cy="400320"/>
          </a:xfrm>
          <a:prstGeom prst="roundRect">
            <a:avLst>
              <a:gd name="adj" fmla="val 9880"/>
            </a:avLst>
          </a:prstGeom>
          <a:solidFill>
            <a:srgbClr val="dfdf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" name="Image 2" descr="preencoded.png"/>
          <p:cNvPicPr/>
          <p:nvPr/>
        </p:nvPicPr>
        <p:blipFill>
          <a:blip r:embed="rId3"/>
          <a:stretch/>
        </p:blipFill>
        <p:spPr>
          <a:xfrm>
            <a:off x="636480" y="2639880"/>
            <a:ext cx="192240" cy="153720"/>
          </a:xfrm>
          <a:prstGeom prst="rect">
            <a:avLst/>
          </a:prstGeom>
          <a:ln w="0">
            <a:noFill/>
          </a:ln>
        </p:spPr>
      </p:pic>
      <p:sp>
        <p:nvSpPr>
          <p:cNvPr id="126" name="Text 8"/>
          <p:cNvSpPr/>
          <p:nvPr/>
        </p:nvSpPr>
        <p:spPr>
          <a:xfrm>
            <a:off x="1118520" y="2529360"/>
            <a:ext cx="154224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Вариант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9"/>
          <p:cNvSpPr/>
          <p:nvPr/>
        </p:nvSpPr>
        <p:spPr>
          <a:xfrm>
            <a:off x="1118520" y="2814840"/>
            <a:ext cx="33562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8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Полный экзаменационный вариант из 10 заданий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10"/>
          <p:cNvSpPr/>
          <p:nvPr/>
        </p:nvSpPr>
        <p:spPr>
          <a:xfrm>
            <a:off x="4687920" y="2521440"/>
            <a:ext cx="346320" cy="400320"/>
          </a:xfrm>
          <a:prstGeom prst="roundRect">
            <a:avLst>
              <a:gd name="adj" fmla="val 9880"/>
            </a:avLst>
          </a:prstGeom>
          <a:solidFill>
            <a:srgbClr val="dfdf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9" name="Image 3" descr="preencoded.png"/>
          <p:cNvPicPr/>
          <p:nvPr/>
        </p:nvPicPr>
        <p:blipFill>
          <a:blip r:embed="rId4"/>
          <a:stretch/>
        </p:blipFill>
        <p:spPr>
          <a:xfrm>
            <a:off x="4764960" y="2639880"/>
            <a:ext cx="192240" cy="153720"/>
          </a:xfrm>
          <a:prstGeom prst="rect">
            <a:avLst/>
          </a:prstGeom>
          <a:ln w="0">
            <a:noFill/>
          </a:ln>
        </p:spPr>
      </p:pic>
      <p:sp>
        <p:nvSpPr>
          <p:cNvPr id="130" name="Text 11"/>
          <p:cNvSpPr/>
          <p:nvPr/>
        </p:nvSpPr>
        <p:spPr>
          <a:xfrm>
            <a:off x="5247000" y="2529360"/>
            <a:ext cx="154224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Статистика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12"/>
          <p:cNvSpPr/>
          <p:nvPr/>
        </p:nvSpPr>
        <p:spPr>
          <a:xfrm>
            <a:off x="5247000" y="2814840"/>
            <a:ext cx="33562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8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Графики успеваемости и выявление слабых мест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13"/>
          <p:cNvSpPr/>
          <p:nvPr/>
        </p:nvSpPr>
        <p:spPr>
          <a:xfrm>
            <a:off x="559440" y="3609360"/>
            <a:ext cx="346320" cy="400320"/>
          </a:xfrm>
          <a:prstGeom prst="roundRect">
            <a:avLst>
              <a:gd name="adj" fmla="val 9880"/>
            </a:avLst>
          </a:prstGeom>
          <a:solidFill>
            <a:srgbClr val="dfdf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" name="Image 4" descr="preencoded.png"/>
          <p:cNvPicPr/>
          <p:nvPr/>
        </p:nvPicPr>
        <p:blipFill>
          <a:blip r:embed="rId5"/>
          <a:stretch/>
        </p:blipFill>
        <p:spPr>
          <a:xfrm>
            <a:off x="636480" y="3727800"/>
            <a:ext cx="192240" cy="153720"/>
          </a:xfrm>
          <a:prstGeom prst="rect">
            <a:avLst/>
          </a:prstGeom>
          <a:ln w="0">
            <a:noFill/>
          </a:ln>
        </p:spPr>
      </p:pic>
      <p:sp>
        <p:nvSpPr>
          <p:cNvPr id="134" name="Text 14"/>
          <p:cNvSpPr/>
          <p:nvPr/>
        </p:nvSpPr>
        <p:spPr>
          <a:xfrm>
            <a:off x="1118520" y="3617280"/>
            <a:ext cx="154224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Таймер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15"/>
          <p:cNvSpPr/>
          <p:nvPr/>
        </p:nvSpPr>
        <p:spPr>
          <a:xfrm>
            <a:off x="1118520" y="3902400"/>
            <a:ext cx="33562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8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Отсчет времени решения и формирование дисциплины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16"/>
          <p:cNvSpPr/>
          <p:nvPr/>
        </p:nvSpPr>
        <p:spPr>
          <a:xfrm>
            <a:off x="4687920" y="3609360"/>
            <a:ext cx="346320" cy="400320"/>
          </a:xfrm>
          <a:prstGeom prst="roundRect">
            <a:avLst>
              <a:gd name="adj" fmla="val 9880"/>
            </a:avLst>
          </a:prstGeom>
          <a:solidFill>
            <a:srgbClr val="dfdf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7" name="Image 5" descr="preencoded.png"/>
          <p:cNvPicPr/>
          <p:nvPr/>
        </p:nvPicPr>
        <p:blipFill>
          <a:blip r:embed="rId6"/>
          <a:stretch/>
        </p:blipFill>
        <p:spPr>
          <a:xfrm>
            <a:off x="4764960" y="3727800"/>
            <a:ext cx="192240" cy="153720"/>
          </a:xfrm>
          <a:prstGeom prst="rect">
            <a:avLst/>
          </a:prstGeom>
          <a:ln w="0">
            <a:noFill/>
          </a:ln>
        </p:spPr>
      </p:pic>
      <p:sp>
        <p:nvSpPr>
          <p:cNvPr id="138" name="Text 17"/>
          <p:cNvSpPr/>
          <p:nvPr/>
        </p:nvSpPr>
        <p:spPr>
          <a:xfrm>
            <a:off x="5247000" y="3617280"/>
            <a:ext cx="154224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Оффлайн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18"/>
          <p:cNvSpPr/>
          <p:nvPr/>
        </p:nvSpPr>
        <p:spPr>
          <a:xfrm>
            <a:off x="5247000" y="3902400"/>
            <a:ext cx="33562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3838"/>
                </a:solidFill>
                <a:latin typeface="Patrick Hand"/>
                <a:ea typeface="Patrick Hand"/>
              </a:rPr>
              <a:t>Работа без подключения к интернету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7992000" y="4824000"/>
            <a:ext cx="1079640" cy="287640"/>
          </a:xfrm>
          <a:prstGeom prst="rect">
            <a:avLst/>
          </a:prstGeom>
          <a:solidFill>
            <a:srgbClr val="f7f7f7"/>
          </a:solidFill>
          <a:ln w="0">
            <a:solidFill>
              <a:srgbClr val="f7f7f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 0"/>
          <p:cNvSpPr/>
          <p:nvPr/>
        </p:nvSpPr>
        <p:spPr>
          <a:xfrm>
            <a:off x="3943800" y="420840"/>
            <a:ext cx="336600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2300" spc="-1" strike="noStrike">
                <a:solidFill>
                  <a:srgbClr val="383838"/>
                </a:solidFill>
                <a:latin typeface="Patrick Hand"/>
                <a:ea typeface="Patrick Hand"/>
              </a:rPr>
              <a:t>Выводы и перспективы</a:t>
            </a:r>
            <a:endParaRPr b="0" lang="ru-RU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1"/>
          <p:cNvSpPr/>
          <p:nvPr/>
        </p:nvSpPr>
        <p:spPr>
          <a:xfrm>
            <a:off x="3943800" y="998640"/>
            <a:ext cx="2934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83838"/>
                </a:solidFill>
                <a:latin typeface="Patrick Hand Light"/>
                <a:ea typeface="Patrick Hand Light"/>
              </a:rPr>
              <a:t>01</a:t>
            </a:r>
            <a:endParaRPr b="0" lang="ru-RU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2"/>
          <p:cNvSpPr/>
          <p:nvPr/>
        </p:nvSpPr>
        <p:spPr>
          <a:xfrm>
            <a:off x="3943800" y="1229760"/>
            <a:ext cx="2271960" cy="1836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3"/>
          <p:cNvSpPr/>
          <p:nvPr/>
        </p:nvSpPr>
        <p:spPr>
          <a:xfrm>
            <a:off x="3943800" y="1341360"/>
            <a:ext cx="14698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83838"/>
                </a:solidFill>
                <a:latin typeface="Patrick Hand"/>
                <a:ea typeface="Patrick Hand"/>
              </a:rPr>
              <a:t>Цель достигнута</a:t>
            </a:r>
            <a:endParaRPr b="0" lang="ru-RU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4"/>
          <p:cNvSpPr/>
          <p:nvPr/>
        </p:nvSpPr>
        <p:spPr>
          <a:xfrm>
            <a:off x="3943800" y="1609200"/>
            <a:ext cx="2271960" cy="68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83838"/>
                </a:solidFill>
                <a:latin typeface="Patrick Hand"/>
                <a:ea typeface="Patrick Hand"/>
              </a:rPr>
              <a:t>Создано работоспособное приложение для подготовки к ОГЭ по информатике</a:t>
            </a:r>
            <a:endParaRPr b="0" lang="ru-RU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5"/>
          <p:cNvSpPr/>
          <p:nvPr/>
        </p:nvSpPr>
        <p:spPr>
          <a:xfrm>
            <a:off x="6356520" y="998640"/>
            <a:ext cx="2934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83838"/>
                </a:solidFill>
                <a:latin typeface="Patrick Hand Light"/>
                <a:ea typeface="Patrick Hand Light"/>
              </a:rPr>
              <a:t>02</a:t>
            </a:r>
            <a:endParaRPr b="0" lang="ru-RU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6"/>
          <p:cNvSpPr/>
          <p:nvPr/>
        </p:nvSpPr>
        <p:spPr>
          <a:xfrm>
            <a:off x="6356520" y="1229760"/>
            <a:ext cx="2271960" cy="1836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7"/>
          <p:cNvSpPr/>
          <p:nvPr/>
        </p:nvSpPr>
        <p:spPr>
          <a:xfrm>
            <a:off x="6356520" y="1341360"/>
            <a:ext cx="17301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83838"/>
                </a:solidFill>
                <a:latin typeface="Patrick Hand"/>
                <a:ea typeface="Patrick Hand"/>
              </a:rPr>
              <a:t>Подтверждена гипотеза</a:t>
            </a:r>
            <a:endParaRPr b="0" lang="ru-RU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8"/>
          <p:cNvSpPr/>
          <p:nvPr/>
        </p:nvSpPr>
        <p:spPr>
          <a:xfrm>
            <a:off x="6356520" y="1609200"/>
            <a:ext cx="2271960" cy="68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83838"/>
                </a:solidFill>
                <a:latin typeface="Patrick Hand"/>
                <a:ea typeface="Patrick Hand"/>
              </a:rPr>
              <a:t>Визуальная аналитика и определение слабых тем востребованы учащимися</a:t>
            </a:r>
            <a:endParaRPr b="0" lang="ru-RU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9"/>
          <p:cNvSpPr/>
          <p:nvPr/>
        </p:nvSpPr>
        <p:spPr>
          <a:xfrm>
            <a:off x="3943800" y="2548800"/>
            <a:ext cx="2934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83838"/>
                </a:solidFill>
                <a:latin typeface="Patrick Hand Light"/>
                <a:ea typeface="Patrick Hand Light"/>
              </a:rPr>
              <a:t>03</a:t>
            </a:r>
            <a:endParaRPr b="0" lang="ru-RU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10"/>
          <p:cNvSpPr/>
          <p:nvPr/>
        </p:nvSpPr>
        <p:spPr>
          <a:xfrm>
            <a:off x="3943800" y="2779560"/>
            <a:ext cx="4684680" cy="1836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1"/>
          <p:cNvSpPr/>
          <p:nvPr/>
        </p:nvSpPr>
        <p:spPr>
          <a:xfrm>
            <a:off x="3943800" y="2891160"/>
            <a:ext cx="16596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83838"/>
                </a:solidFill>
                <a:latin typeface="Patrick Hand"/>
                <a:ea typeface="Patrick Hand"/>
              </a:rPr>
              <a:t>Выполнены все задачи</a:t>
            </a:r>
            <a:endParaRPr b="0" lang="ru-RU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12"/>
          <p:cNvSpPr/>
          <p:nvPr/>
        </p:nvSpPr>
        <p:spPr>
          <a:xfrm>
            <a:off x="3943800" y="3159000"/>
            <a:ext cx="46846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83838"/>
                </a:solidFill>
                <a:latin typeface="Patrick Hand"/>
                <a:ea typeface="Patrick Hand"/>
              </a:rPr>
              <a:t>От анализа требований до реализации и тестирования</a:t>
            </a:r>
            <a:endParaRPr b="0" lang="ru-RU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13"/>
          <p:cNvSpPr/>
          <p:nvPr/>
        </p:nvSpPr>
        <p:spPr>
          <a:xfrm>
            <a:off x="3943800" y="3656880"/>
            <a:ext cx="4684680" cy="1064880"/>
          </a:xfrm>
          <a:prstGeom prst="roundRect">
            <a:avLst>
              <a:gd name="adj" fmla="val 5796"/>
            </a:avLst>
          </a:prstGeom>
          <a:solidFill>
            <a:srgbClr val="b6fc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5" name="Image 1" descr="preencoded.png"/>
          <p:cNvPicPr/>
          <p:nvPr/>
        </p:nvPicPr>
        <p:blipFill>
          <a:blip r:embed="rId1"/>
          <a:stretch/>
        </p:blipFill>
        <p:spPr>
          <a:xfrm>
            <a:off x="4090680" y="3878640"/>
            <a:ext cx="183240" cy="146160"/>
          </a:xfrm>
          <a:prstGeom prst="rect">
            <a:avLst/>
          </a:prstGeom>
          <a:ln w="0">
            <a:noFill/>
          </a:ln>
        </p:spPr>
      </p:pic>
      <p:sp>
        <p:nvSpPr>
          <p:cNvPr id="156" name="Text 14"/>
          <p:cNvSpPr/>
          <p:nvPr/>
        </p:nvSpPr>
        <p:spPr>
          <a:xfrm>
            <a:off x="4421520" y="3833640"/>
            <a:ext cx="4060080" cy="68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00000"/>
                </a:solidFill>
                <a:latin typeface="Patrick Hand"/>
                <a:ea typeface="Patrick Hand"/>
              </a:rPr>
              <a:t>Дальнейшее развитие: модуль автоматического обновления базы заданий и ИИ-рекомендации для индивидуального плана занятий</a:t>
            </a:r>
            <a:endParaRPr b="0" lang="ru-RU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7992000" y="4824000"/>
            <a:ext cx="1079640" cy="287640"/>
          </a:xfrm>
          <a:prstGeom prst="rect">
            <a:avLst/>
          </a:prstGeom>
          <a:solidFill>
            <a:srgbClr val="f7f7f7"/>
          </a:solidFill>
          <a:ln w="0">
            <a:solidFill>
              <a:srgbClr val="f7f7f7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8" name="" descr=""/>
          <p:cNvPicPr/>
          <p:nvPr/>
        </p:nvPicPr>
        <p:blipFill>
          <a:blip r:embed="rId2"/>
          <a:stretch/>
        </p:blipFill>
        <p:spPr>
          <a:xfrm>
            <a:off x="360000" y="504000"/>
            <a:ext cx="3119760" cy="1754640"/>
          </a:xfrm>
          <a:prstGeom prst="rect">
            <a:avLst/>
          </a:prstGeom>
          <a:ln w="0">
            <a:noFill/>
          </a:ln>
        </p:spPr>
      </p:pic>
      <p:pic>
        <p:nvPicPr>
          <p:cNvPr id="159" name="" descr=""/>
          <p:cNvPicPr/>
          <p:nvPr/>
        </p:nvPicPr>
        <p:blipFill>
          <a:blip r:embed="rId3"/>
          <a:stretch/>
        </p:blipFill>
        <p:spPr>
          <a:xfrm>
            <a:off x="432000" y="2633040"/>
            <a:ext cx="2999160" cy="168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2026-05-11T18:17:12Z</dcterms:created>
  <dc:creator/>
  <dc:description/>
  <dc:language>ru-RU</dc:language>
  <cp:lastModifiedBy/>
  <dcterms:modified xsi:type="dcterms:W3CDTF">2026-05-12T09:29:04Z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