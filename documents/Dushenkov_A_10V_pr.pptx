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29.jpeg" ContentType="image/jpeg"/>
  <Override PartName="/ppt/media/image28.jpeg" ContentType="image/jpeg"/>
  <Override PartName="/ppt/media/image1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4.png" ContentType="image/png"/>
  <Override PartName="/ppt/media/image5.png" ContentType="image/png"/>
  <Override PartName="/ppt/media/image37.png" ContentType="image/png"/>
  <Override PartName="/ppt/media/image15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0.png" ContentType="image/png"/>
  <Override PartName="/ppt/media/image47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50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9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media/image30.jpeg" ContentType="image/jpeg"/>
  <Override PartName="/ppt/media/image39.png" ContentType="image/png"/>
  <Override PartName="/ppt/media/image7.png" ContentType="image/png"/>
  <Override PartName="/ppt/media/image16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2D141D-96FE-448F-A32D-ED73863418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A744A6-9F88-4F66-A56D-A0938D8BDB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EDA0EC-3B85-4446-8CBF-E059BEBDC4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140130F-5811-4255-8438-BA432CDC48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BDEEF10-52B9-4203-9B35-5BF86276CD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79199A1-1CA3-4555-A50E-1FEC3F762A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27808D9-54E9-4B40-840A-5899C31209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75DB04A-41D1-4C89-A72C-39353C8B3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8E62E0A-FB6B-4B5E-AACB-74646BC2D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C596589-CA72-4A8A-BE9B-61AF26AB0D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7F1BFC2-BEF8-41C0-8530-93B0434E4D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0A935A-EBA9-4985-9DDC-5633AE20DB2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F725BB-9573-4BC7-BA81-B5350B47C20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679B06-C7C1-4ADE-8EF6-DBF1AC147D7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9A347-8B25-4C63-9D00-4471B5970EE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A8DBCB4-1823-4376-91F3-25428193343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ru-RU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198745-8F1C-4C6B-969B-9F91F984451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6F6DB7-491C-45DD-AAA2-C68031673C1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594A51-2B2A-4473-B4E2-99581816C9B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900D55A-0246-458E-A8A4-89D86938A35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573446-6943-4F91-B6AD-1B54E151F73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BC4D44-4C80-4533-8711-842752505254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image" Target="../media/image29.jpeg"/><Relationship Id="rId3" Type="http://schemas.openxmlformats.org/officeDocument/2006/relationships/image" Target="../media/image30.jpeg"/><Relationship Id="rId4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video" Target="file:///home/v386/prj/python/school_project/oge_ticher_app/documents/demonstration.mp4" TargetMode="External"/><Relationship Id="rId2" Type="http://schemas.microsoft.com/office/2007/relationships/media" Target="file:///home/v386/prj/python/school_project/oge_ticher_app/documents/demonstration.mp4" TargetMode="External"/><Relationship Id="rId3" Type="http://schemas.openxmlformats.org/officeDocument/2006/relationships/image" Target="../media/image34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85;p13"/>
          <p:cNvSpPr/>
          <p:nvPr/>
        </p:nvSpPr>
        <p:spPr>
          <a:xfrm>
            <a:off x="295200" y="2386440"/>
            <a:ext cx="1160136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200" spc="-1" strike="noStrike">
                <a:solidFill>
                  <a:srgbClr val="deff9a"/>
                </a:solidFill>
                <a:latin typeface="Urbanist Medium"/>
                <a:ea typeface="Urbanist Medium"/>
              </a:rPr>
              <a:t>OGE Teacher</a:t>
            </a:r>
            <a:r>
              <a:rPr b="0" lang="en-US" sz="6200" spc="-1" strike="noStrike">
                <a:solidFill>
                  <a:srgbClr val="f5f5f5"/>
                </a:solidFill>
                <a:latin typeface="Urbanist Medium"/>
                <a:ea typeface="Urbanist Medium"/>
              </a:rPr>
              <a:t> App</a:t>
            </a:r>
            <a:endParaRPr b="0" lang="ru-RU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86;p13"/>
          <p:cNvSpPr/>
          <p:nvPr/>
        </p:nvSpPr>
        <p:spPr>
          <a:xfrm>
            <a:off x="624240" y="3487320"/>
            <a:ext cx="1104876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2"/>
                </a:solidFill>
                <a:latin typeface="Arial"/>
                <a:ea typeface="Arial"/>
              </a:rPr>
              <a:t>Интерактивный тренажер для подготовки к ОГЭ по информатике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571680" y="4107240"/>
            <a:ext cx="110487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Выполнил: Душенков Антон Александрович, 10В класс</a:t>
            </a:r>
            <a:br>
              <a:rPr sz="2000"/>
            </a:b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Руководитель: Келбусова С.С.</a:t>
            </a:r>
            <a:br>
              <a:rPr sz="2000"/>
            </a:b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ГБОУ Лицей № 554, СПб, 2026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92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93;p14"/>
          <p:cNvSpPr/>
          <p:nvPr/>
        </p:nvSpPr>
        <p:spPr>
          <a:xfrm>
            <a:off x="1047600" y="2030760"/>
            <a:ext cx="80960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Цель:</a:t>
            </a:r>
            <a:r>
              <a:rPr b="0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 Разработать ПО на Python для автоматизации подготовки и повышения эффективности самоконтроля.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Google Shape;94;p14"/>
          <p:cNvSpPr/>
          <p:nvPr/>
        </p:nvSpPr>
        <p:spPr>
          <a:xfrm>
            <a:off x="1047600" y="3259800"/>
            <a:ext cx="809604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Проанализировать актуальные требования ФИПИ 2026.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95;p14"/>
          <p:cNvSpPr/>
          <p:nvPr/>
        </p:nvSpPr>
        <p:spPr>
          <a:xfrm>
            <a:off x="1047600" y="3947040"/>
            <a:ext cx="809604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Реализовать модули тестирования, учета времени и статистики.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Google Shape;96;p14"/>
          <p:cNvSpPr/>
          <p:nvPr/>
        </p:nvSpPr>
        <p:spPr>
          <a:xfrm>
            <a:off x="1047600" y="5175720"/>
            <a:ext cx="8096040" cy="53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Внедрить инструменты визуальной аналитики "слабых мест".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Google Shape;97;p14" descr="image.png"/>
          <p:cNvPicPr/>
          <p:nvPr/>
        </p:nvPicPr>
        <p:blipFill>
          <a:blip r:embed="rId2"/>
          <a:stretch/>
        </p:blipFill>
        <p:spPr>
          <a:xfrm>
            <a:off x="571680" y="2304000"/>
            <a:ext cx="266400" cy="275760"/>
          </a:xfrm>
          <a:prstGeom prst="rect">
            <a:avLst/>
          </a:prstGeom>
          <a:ln w="0">
            <a:noFill/>
          </a:ln>
        </p:spPr>
      </p:pic>
      <p:pic>
        <p:nvPicPr>
          <p:cNvPr id="77" name="Google Shape;98;p14" descr="image.png"/>
          <p:cNvPicPr/>
          <p:nvPr/>
        </p:nvPicPr>
        <p:blipFill>
          <a:blip r:embed="rId3"/>
          <a:stretch/>
        </p:blipFill>
        <p:spPr>
          <a:xfrm>
            <a:off x="571680" y="3468240"/>
            <a:ext cx="266400" cy="275760"/>
          </a:xfrm>
          <a:prstGeom prst="rect">
            <a:avLst/>
          </a:prstGeom>
          <a:ln w="0">
            <a:noFill/>
          </a:ln>
        </p:spPr>
      </p:pic>
      <p:pic>
        <p:nvPicPr>
          <p:cNvPr id="78" name="Google Shape;99;p14" descr="image.png"/>
          <p:cNvPicPr/>
          <p:nvPr/>
        </p:nvPicPr>
        <p:blipFill>
          <a:blip r:embed="rId4"/>
          <a:stretch/>
        </p:blipFill>
        <p:spPr>
          <a:xfrm>
            <a:off x="597600" y="4188240"/>
            <a:ext cx="266400" cy="275760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100;p14" descr="image.png"/>
          <p:cNvPicPr/>
          <p:nvPr/>
        </p:nvPicPr>
        <p:blipFill>
          <a:blip r:embed="rId5"/>
          <a:stretch/>
        </p:blipFill>
        <p:spPr>
          <a:xfrm>
            <a:off x="648000" y="5400000"/>
            <a:ext cx="266400" cy="275760"/>
          </a:xfrm>
          <a:prstGeom prst="rect">
            <a:avLst/>
          </a:prstGeom>
          <a:ln w="0">
            <a:noFill/>
          </a:ln>
        </p:spPr>
      </p:pic>
      <p:sp>
        <p:nvSpPr>
          <p:cNvPr id="80" name="Google Shape;101;p14"/>
          <p:cNvSpPr/>
          <p:nvPr/>
        </p:nvSpPr>
        <p:spPr>
          <a:xfrm>
            <a:off x="571680" y="571680"/>
            <a:ext cx="1160136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Цели и задачи </a:t>
            </a: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проекта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106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2" name="Google Shape;107;p15" descr="image.png"/>
          <p:cNvPicPr/>
          <p:nvPr/>
        </p:nvPicPr>
        <p:blipFill>
          <a:blip r:embed="rId2"/>
          <a:stretch/>
        </p:blipFill>
        <p:spPr>
          <a:xfrm>
            <a:off x="571680" y="1518120"/>
            <a:ext cx="11048760" cy="4767840"/>
          </a:xfrm>
          <a:prstGeom prst="rect">
            <a:avLst/>
          </a:prstGeom>
          <a:ln w="0">
            <a:noFill/>
          </a:ln>
        </p:spPr>
      </p:pic>
      <p:sp>
        <p:nvSpPr>
          <p:cNvPr id="83" name="Google Shape;108;p15"/>
          <p:cNvSpPr/>
          <p:nvPr/>
        </p:nvSpPr>
        <p:spPr>
          <a:xfrm>
            <a:off x="571680" y="571680"/>
            <a:ext cx="116013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050" spc="-1" strike="noStrike">
                <a:solidFill>
                  <a:srgbClr val="f5f5f5"/>
                </a:solidFill>
                <a:latin typeface="Arial"/>
                <a:ea typeface="Arial"/>
              </a:rPr>
              <a:t>Потребности </a:t>
            </a:r>
            <a:r>
              <a:rPr b="0" lang="en-US" sz="4050" spc="-1" strike="noStrike">
                <a:solidFill>
                  <a:srgbClr val="deff9a"/>
                </a:solidFill>
                <a:latin typeface="Arial"/>
                <a:ea typeface="Arial"/>
              </a:rPr>
              <a:t>аудитории</a:t>
            </a:r>
            <a:endParaRPr b="0" lang="ru-RU" sz="4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113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85" name="Google Shape;114;p16"/>
          <p:cNvGraphicFramePr/>
          <p:nvPr/>
        </p:nvGraphicFramePr>
        <p:xfrm>
          <a:off x="571680" y="2430720"/>
          <a:ext cx="11048760" cy="3133440"/>
        </p:xfrm>
        <a:graphic>
          <a:graphicData uri="http://schemas.openxmlformats.org/drawingml/2006/table">
            <a:tbl>
              <a:tblPr/>
              <a:tblGrid>
                <a:gridCol w="3220200"/>
                <a:gridCol w="2118600"/>
                <a:gridCol w="2500560"/>
                <a:gridCol w="3208680"/>
              </a:tblGrid>
              <a:tr h="6264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Критерий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Решу ОГЭ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Банк ФИПИ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OGE Teacher App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264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Персональная аналитика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Поверхностная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Отсутствует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Глубокая (QtCharts)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264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Оффлайн-режим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Нет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Частично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Полная автономность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264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Учет времени (таймер)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Базовый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Нет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Индивидуальный трекинг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626400"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Интерфейс (UI/UX)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Устаревший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f8fafc"/>
                          </a:solidFill>
                          <a:latin typeface="Arial"/>
                          <a:ea typeface="Arial"/>
                        </a:rPr>
                        <a:t>Минималистичный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deff9a"/>
                          </a:solidFill>
                          <a:latin typeface="Arial"/>
                          <a:ea typeface="Arial"/>
                        </a:rPr>
                        <a:t>Современный (PySide6)</a:t>
                      </a:r>
                      <a:endParaRPr b="0" lang="ru-RU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6" name="Google Shape;115;p16"/>
          <p:cNvSpPr/>
          <p:nvPr/>
        </p:nvSpPr>
        <p:spPr>
          <a:xfrm>
            <a:off x="571680" y="3059280"/>
            <a:ext cx="322020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116;p16"/>
          <p:cNvSpPr/>
          <p:nvPr/>
        </p:nvSpPr>
        <p:spPr>
          <a:xfrm>
            <a:off x="3791880" y="3059280"/>
            <a:ext cx="211824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17;p16"/>
          <p:cNvSpPr/>
          <p:nvPr/>
        </p:nvSpPr>
        <p:spPr>
          <a:xfrm>
            <a:off x="5910840" y="3059280"/>
            <a:ext cx="25005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18;p16"/>
          <p:cNvSpPr/>
          <p:nvPr/>
        </p:nvSpPr>
        <p:spPr>
          <a:xfrm>
            <a:off x="8411400" y="3059280"/>
            <a:ext cx="320868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9;p16"/>
          <p:cNvSpPr/>
          <p:nvPr/>
        </p:nvSpPr>
        <p:spPr>
          <a:xfrm>
            <a:off x="571680" y="3692880"/>
            <a:ext cx="322020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20;p16"/>
          <p:cNvSpPr/>
          <p:nvPr/>
        </p:nvSpPr>
        <p:spPr>
          <a:xfrm>
            <a:off x="3791880" y="3692880"/>
            <a:ext cx="211824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21;p16"/>
          <p:cNvSpPr/>
          <p:nvPr/>
        </p:nvSpPr>
        <p:spPr>
          <a:xfrm>
            <a:off x="5910840" y="3692880"/>
            <a:ext cx="250056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22;p16"/>
          <p:cNvSpPr/>
          <p:nvPr/>
        </p:nvSpPr>
        <p:spPr>
          <a:xfrm>
            <a:off x="8411400" y="3692880"/>
            <a:ext cx="320868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23;p16"/>
          <p:cNvSpPr/>
          <p:nvPr/>
        </p:nvSpPr>
        <p:spPr>
          <a:xfrm>
            <a:off x="571680" y="4311720"/>
            <a:ext cx="322020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24;p16"/>
          <p:cNvSpPr/>
          <p:nvPr/>
        </p:nvSpPr>
        <p:spPr>
          <a:xfrm>
            <a:off x="3791880" y="4311720"/>
            <a:ext cx="211824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25;p16"/>
          <p:cNvSpPr/>
          <p:nvPr/>
        </p:nvSpPr>
        <p:spPr>
          <a:xfrm>
            <a:off x="5910840" y="4311720"/>
            <a:ext cx="250056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26;p16"/>
          <p:cNvSpPr/>
          <p:nvPr/>
        </p:nvSpPr>
        <p:spPr>
          <a:xfrm>
            <a:off x="8411400" y="4311720"/>
            <a:ext cx="320868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27;p16"/>
          <p:cNvSpPr/>
          <p:nvPr/>
        </p:nvSpPr>
        <p:spPr>
          <a:xfrm>
            <a:off x="571680" y="4930920"/>
            <a:ext cx="322020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28;p16"/>
          <p:cNvSpPr/>
          <p:nvPr/>
        </p:nvSpPr>
        <p:spPr>
          <a:xfrm>
            <a:off x="3791880" y="4930920"/>
            <a:ext cx="211824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29;p16"/>
          <p:cNvSpPr/>
          <p:nvPr/>
        </p:nvSpPr>
        <p:spPr>
          <a:xfrm>
            <a:off x="5910840" y="4930920"/>
            <a:ext cx="250056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30;p16"/>
          <p:cNvSpPr/>
          <p:nvPr/>
        </p:nvSpPr>
        <p:spPr>
          <a:xfrm>
            <a:off x="8411400" y="4930920"/>
            <a:ext cx="320868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31;p16"/>
          <p:cNvSpPr/>
          <p:nvPr/>
        </p:nvSpPr>
        <p:spPr>
          <a:xfrm>
            <a:off x="571680" y="5550120"/>
            <a:ext cx="322020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32;p16"/>
          <p:cNvSpPr/>
          <p:nvPr/>
        </p:nvSpPr>
        <p:spPr>
          <a:xfrm>
            <a:off x="3791880" y="5550120"/>
            <a:ext cx="211824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3;p16"/>
          <p:cNvSpPr/>
          <p:nvPr/>
        </p:nvSpPr>
        <p:spPr>
          <a:xfrm>
            <a:off x="5910840" y="5550120"/>
            <a:ext cx="250056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34;p16"/>
          <p:cNvSpPr/>
          <p:nvPr/>
        </p:nvSpPr>
        <p:spPr>
          <a:xfrm>
            <a:off x="8411400" y="5550120"/>
            <a:ext cx="3208680" cy="936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35;p16"/>
          <p:cNvSpPr/>
          <p:nvPr/>
        </p:nvSpPr>
        <p:spPr>
          <a:xfrm>
            <a:off x="571680" y="571680"/>
            <a:ext cx="116013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050" spc="-1" strike="noStrike">
                <a:solidFill>
                  <a:srgbClr val="f5f5f5"/>
                </a:solidFill>
                <a:latin typeface="Arial"/>
                <a:ea typeface="Arial"/>
              </a:rPr>
              <a:t>Анализ </a:t>
            </a:r>
            <a:r>
              <a:rPr b="0" lang="en-US" sz="4050" spc="-1" strike="noStrike">
                <a:solidFill>
                  <a:srgbClr val="deff9a"/>
                </a:solidFill>
                <a:latin typeface="Arial"/>
                <a:ea typeface="Arial"/>
              </a:rPr>
              <a:t>существующих</a:t>
            </a:r>
            <a:r>
              <a:rPr b="0" lang="en-US" sz="4050" spc="-1" strike="noStrike">
                <a:solidFill>
                  <a:srgbClr val="f5f5f5"/>
                </a:solidFill>
                <a:latin typeface="Arial"/>
                <a:ea typeface="Arial"/>
              </a:rPr>
              <a:t> решений</a:t>
            </a:r>
            <a:endParaRPr b="0" lang="ru-RU" sz="4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40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41;p17" descr="image.png"/>
          <p:cNvPicPr/>
          <p:nvPr/>
        </p:nvPicPr>
        <p:blipFill>
          <a:blip r:embed="rId2"/>
          <a:stretch/>
        </p:blipFill>
        <p:spPr>
          <a:xfrm>
            <a:off x="571680" y="1909800"/>
            <a:ext cx="2619000" cy="3667320"/>
          </a:xfrm>
          <a:prstGeom prst="rect">
            <a:avLst/>
          </a:prstGeom>
          <a:ln w="0">
            <a:noFill/>
          </a:ln>
        </p:spPr>
      </p:pic>
      <p:pic>
        <p:nvPicPr>
          <p:cNvPr id="109" name="Google Shape;142;p17" descr="image.png"/>
          <p:cNvPicPr/>
          <p:nvPr/>
        </p:nvPicPr>
        <p:blipFill>
          <a:blip r:embed="rId3"/>
          <a:stretch/>
        </p:blipFill>
        <p:spPr>
          <a:xfrm>
            <a:off x="3381480" y="1909800"/>
            <a:ext cx="2619000" cy="3667320"/>
          </a:xfrm>
          <a:prstGeom prst="rect">
            <a:avLst/>
          </a:prstGeom>
          <a:ln w="0">
            <a:noFill/>
          </a:ln>
        </p:spPr>
      </p:pic>
      <p:pic>
        <p:nvPicPr>
          <p:cNvPr id="110" name="Google Shape;143;p17" descr="image.png"/>
          <p:cNvPicPr/>
          <p:nvPr/>
        </p:nvPicPr>
        <p:blipFill>
          <a:blip r:embed="rId4"/>
          <a:stretch/>
        </p:blipFill>
        <p:spPr>
          <a:xfrm>
            <a:off x="6191280" y="1909800"/>
            <a:ext cx="2619000" cy="3667320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144;p17" descr="image.png"/>
          <p:cNvPicPr/>
          <p:nvPr/>
        </p:nvPicPr>
        <p:blipFill>
          <a:blip r:embed="rId5"/>
          <a:stretch/>
        </p:blipFill>
        <p:spPr>
          <a:xfrm>
            <a:off x="9001080" y="1909800"/>
            <a:ext cx="2619000" cy="366732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45;p17" descr="image.png"/>
          <p:cNvPicPr/>
          <p:nvPr/>
        </p:nvPicPr>
        <p:blipFill>
          <a:blip r:embed="rId6"/>
          <a:stretch/>
        </p:blipFill>
        <p:spPr>
          <a:xfrm>
            <a:off x="765360" y="214812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113" name="Google Shape;146;p17"/>
          <p:cNvSpPr/>
          <p:nvPr/>
        </p:nvSpPr>
        <p:spPr>
          <a:xfrm>
            <a:off x="773280" y="2834640"/>
            <a:ext cx="2130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eff9a"/>
                </a:solidFill>
                <a:latin typeface="Arial"/>
                <a:ea typeface="Arial"/>
              </a:rPr>
              <a:t>Python 3.12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47;p17"/>
          <p:cNvSpPr/>
          <p:nvPr/>
        </p:nvSpPr>
        <p:spPr>
          <a:xfrm>
            <a:off x="693720" y="3429000"/>
            <a:ext cx="2288520" cy="21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Высокая скорость разработки и богатая экосистема библиотек.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5" name="Google Shape;148;p17" descr="image.png"/>
          <p:cNvPicPr/>
          <p:nvPr/>
        </p:nvPicPr>
        <p:blipFill>
          <a:blip r:embed="rId7"/>
          <a:stretch/>
        </p:blipFill>
        <p:spPr>
          <a:xfrm>
            <a:off x="3637800" y="214812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49;p17"/>
          <p:cNvSpPr/>
          <p:nvPr/>
        </p:nvSpPr>
        <p:spPr>
          <a:xfrm>
            <a:off x="3670200" y="2834640"/>
            <a:ext cx="2130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eff9a"/>
                </a:solidFill>
                <a:latin typeface="Arial"/>
                <a:ea typeface="Arial"/>
              </a:rPr>
              <a:t>PySide6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150;p17"/>
          <p:cNvSpPr/>
          <p:nvPr/>
        </p:nvSpPr>
        <p:spPr>
          <a:xfrm>
            <a:off x="3546720" y="3288600"/>
            <a:ext cx="2288520" cy="21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Официальный фреймворк Qt для создания кроссплатформенных GUI.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Google Shape;151;p17" descr="image.png"/>
          <p:cNvPicPr/>
          <p:nvPr/>
        </p:nvPicPr>
        <p:blipFill>
          <a:blip r:embed="rId8"/>
          <a:stretch/>
        </p:blipFill>
        <p:spPr>
          <a:xfrm>
            <a:off x="6422760" y="215964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52;p17"/>
          <p:cNvSpPr/>
          <p:nvPr/>
        </p:nvSpPr>
        <p:spPr>
          <a:xfrm>
            <a:off x="6435720" y="2834640"/>
            <a:ext cx="2130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eff9a"/>
                </a:solidFill>
                <a:latin typeface="Arial"/>
                <a:ea typeface="Arial"/>
              </a:rPr>
              <a:t>QtCharts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Google Shape;153;p17"/>
          <p:cNvSpPr/>
          <p:nvPr/>
        </p:nvSpPr>
        <p:spPr>
          <a:xfrm>
            <a:off x="6356520" y="3459960"/>
            <a:ext cx="2288520" cy="21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Встроенная визуализация данных без лишних зависимостей.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1" name="Google Shape;154;p17" descr="image.png"/>
          <p:cNvPicPr/>
          <p:nvPr/>
        </p:nvPicPr>
        <p:blipFill>
          <a:blip r:embed="rId9"/>
          <a:stretch/>
        </p:blipFill>
        <p:spPr>
          <a:xfrm>
            <a:off x="9245880" y="214812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122" name="Google Shape;155;p17"/>
          <p:cNvSpPr/>
          <p:nvPr/>
        </p:nvSpPr>
        <p:spPr>
          <a:xfrm>
            <a:off x="9288720" y="2834640"/>
            <a:ext cx="213012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deff9a"/>
                </a:solidFill>
                <a:latin typeface="Arial"/>
                <a:ea typeface="Arial"/>
              </a:rPr>
              <a:t>JSON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56;p17"/>
          <p:cNvSpPr/>
          <p:nvPr/>
        </p:nvSpPr>
        <p:spPr>
          <a:xfrm>
            <a:off x="9087120" y="3288600"/>
            <a:ext cx="2533320" cy="21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Легковесный формат для локального хранения базы заданий и статистики.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4" name="Google Shape;157;p17" descr="image.png"/>
          <p:cNvPicPr/>
          <p:nvPr/>
        </p:nvPicPr>
        <p:blipFill>
          <a:blip r:embed="rId10"/>
          <a:stretch/>
        </p:blipFill>
        <p:spPr>
          <a:xfrm>
            <a:off x="951120" y="2319480"/>
            <a:ext cx="199800" cy="228240"/>
          </a:xfrm>
          <a:prstGeom prst="rect">
            <a:avLst/>
          </a:prstGeom>
          <a:ln w="0">
            <a:noFill/>
          </a:ln>
        </p:spPr>
      </p:pic>
      <p:pic>
        <p:nvPicPr>
          <p:cNvPr id="125" name="Google Shape;158;p17" descr="image.png"/>
          <p:cNvPicPr/>
          <p:nvPr/>
        </p:nvPicPr>
        <p:blipFill>
          <a:blip r:embed="rId11"/>
          <a:stretch/>
        </p:blipFill>
        <p:spPr>
          <a:xfrm>
            <a:off x="3809160" y="2319480"/>
            <a:ext cx="228240" cy="22824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159;p17" descr="image.png"/>
          <p:cNvPicPr/>
          <p:nvPr/>
        </p:nvPicPr>
        <p:blipFill>
          <a:blip r:embed="rId12"/>
          <a:stretch/>
        </p:blipFill>
        <p:spPr>
          <a:xfrm>
            <a:off x="6594480" y="2319480"/>
            <a:ext cx="228240" cy="2282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160;p17" descr="image.png"/>
          <p:cNvPicPr/>
          <p:nvPr/>
        </p:nvPicPr>
        <p:blipFill>
          <a:blip r:embed="rId13"/>
          <a:stretch/>
        </p:blipFill>
        <p:spPr>
          <a:xfrm>
            <a:off x="9431640" y="2331360"/>
            <a:ext cx="199800" cy="228240"/>
          </a:xfrm>
          <a:prstGeom prst="rect">
            <a:avLst/>
          </a:prstGeom>
          <a:ln w="0">
            <a:noFill/>
          </a:ln>
        </p:spPr>
      </p:pic>
      <p:sp>
        <p:nvSpPr>
          <p:cNvPr id="128" name="Google Shape;161;p17"/>
          <p:cNvSpPr/>
          <p:nvPr/>
        </p:nvSpPr>
        <p:spPr>
          <a:xfrm>
            <a:off x="571680" y="571680"/>
            <a:ext cx="116013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050" spc="-1" strike="noStrike">
                <a:solidFill>
                  <a:srgbClr val="f5f5f5"/>
                </a:solidFill>
                <a:latin typeface="Arial"/>
                <a:ea typeface="Arial"/>
              </a:rPr>
              <a:t>Технологический </a:t>
            </a:r>
            <a:r>
              <a:rPr b="0" lang="en-US" sz="4050" spc="-1" strike="noStrike">
                <a:solidFill>
                  <a:srgbClr val="deff9a"/>
                </a:solidFill>
                <a:latin typeface="Arial"/>
                <a:ea typeface="Arial"/>
              </a:rPr>
              <a:t>стек</a:t>
            </a:r>
            <a:endParaRPr b="0" lang="ru-RU" sz="4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66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167;p18" descr="image.png"/>
          <p:cNvPicPr/>
          <p:nvPr/>
        </p:nvPicPr>
        <p:blipFill>
          <a:blip r:embed="rId2"/>
          <a:stretch/>
        </p:blipFill>
        <p:spPr>
          <a:xfrm>
            <a:off x="6381720" y="1997280"/>
            <a:ext cx="5238360" cy="380952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168;p18"/>
          <p:cNvSpPr/>
          <p:nvPr/>
        </p:nvSpPr>
        <p:spPr>
          <a:xfrm>
            <a:off x="518040" y="1967400"/>
            <a:ext cx="55004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5f5f5"/>
                </a:solidFill>
                <a:latin typeface="Arial"/>
                <a:ea typeface="Arial"/>
              </a:rPr>
              <a:t>Модульная структура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169;p18"/>
          <p:cNvSpPr/>
          <p:nvPr/>
        </p:nvSpPr>
        <p:spPr>
          <a:xfrm>
            <a:off x="518040" y="2575800"/>
            <a:ext cx="5238720" cy="160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bd5e1"/>
                </a:solidFill>
                <a:latin typeface="Arial"/>
                <a:ea typeface="Arial"/>
              </a:rPr>
              <a:t>Приложение построено на принципах ООП с четким разделением ответственности: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" name="Google Shape;170;p18" descr="image.png"/>
          <p:cNvPicPr/>
          <p:nvPr/>
        </p:nvPicPr>
        <p:blipFill>
          <a:blip r:embed="rId3"/>
          <a:stretch/>
        </p:blipFill>
        <p:spPr>
          <a:xfrm>
            <a:off x="6391440" y="2006640"/>
            <a:ext cx="5219280" cy="3790440"/>
          </a:xfrm>
          <a:prstGeom prst="rect">
            <a:avLst/>
          </a:prstGeom>
          <a:ln w="0">
            <a:noFill/>
          </a:ln>
        </p:spPr>
      </p:pic>
      <p:sp>
        <p:nvSpPr>
          <p:cNvPr id="134" name="Google Shape;171;p18"/>
          <p:cNvSpPr/>
          <p:nvPr/>
        </p:nvSpPr>
        <p:spPr>
          <a:xfrm>
            <a:off x="571680" y="4214880"/>
            <a:ext cx="52387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1428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UI Layer: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Пакет ui/ (PySide6 widgets)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172;p18"/>
          <p:cNvSpPr/>
          <p:nvPr/>
        </p:nvSpPr>
        <p:spPr>
          <a:xfrm>
            <a:off x="518040" y="4814280"/>
            <a:ext cx="52387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33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Logic Layer: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TaskManager, StatsManager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173;p18"/>
          <p:cNvSpPr/>
          <p:nvPr/>
        </p:nvSpPr>
        <p:spPr>
          <a:xfrm>
            <a:off x="648720" y="5413680"/>
            <a:ext cx="52387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9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Data Layer: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JSON файлы заданий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Google Shape;174;p18" descr="image.png"/>
          <p:cNvPicPr/>
          <p:nvPr/>
        </p:nvPicPr>
        <p:blipFill>
          <a:blip r:embed="rId4"/>
          <a:stretch/>
        </p:blipFill>
        <p:spPr>
          <a:xfrm>
            <a:off x="504000" y="4480200"/>
            <a:ext cx="218880" cy="199800"/>
          </a:xfrm>
          <a:prstGeom prst="rect">
            <a:avLst/>
          </a:prstGeom>
          <a:ln w="0">
            <a:noFill/>
          </a:ln>
        </p:spPr>
      </p:pic>
      <p:pic>
        <p:nvPicPr>
          <p:cNvPr id="138" name="Google Shape;175;p18" descr="image.png"/>
          <p:cNvPicPr/>
          <p:nvPr/>
        </p:nvPicPr>
        <p:blipFill>
          <a:blip r:embed="rId5"/>
          <a:stretch/>
        </p:blipFill>
        <p:spPr>
          <a:xfrm>
            <a:off x="432000" y="505620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176;p18" descr="image.png"/>
          <p:cNvPicPr/>
          <p:nvPr/>
        </p:nvPicPr>
        <p:blipFill>
          <a:blip r:embed="rId6"/>
          <a:stretch/>
        </p:blipFill>
        <p:spPr>
          <a:xfrm>
            <a:off x="571680" y="5632200"/>
            <a:ext cx="142560" cy="19980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177;p18"/>
          <p:cNvSpPr/>
          <p:nvPr/>
        </p:nvSpPr>
        <p:spPr>
          <a:xfrm>
            <a:off x="571680" y="571680"/>
            <a:ext cx="1160136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050" spc="-1" strike="noStrike">
                <a:solidFill>
                  <a:srgbClr val="f5f5f5"/>
                </a:solidFill>
                <a:latin typeface="Arial"/>
                <a:ea typeface="Arial"/>
              </a:rPr>
              <a:t>Архитектура </a:t>
            </a:r>
            <a:r>
              <a:rPr b="0" lang="en-US" sz="4050" spc="-1" strike="noStrike">
                <a:solidFill>
                  <a:srgbClr val="deff9a"/>
                </a:solidFill>
                <a:latin typeface="Arial"/>
                <a:ea typeface="Arial"/>
              </a:rPr>
              <a:t>Model-View</a:t>
            </a:r>
            <a:endParaRPr b="0" lang="ru-RU" sz="4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82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183;p19"/>
          <p:cNvSpPr/>
          <p:nvPr/>
        </p:nvSpPr>
        <p:spPr>
          <a:xfrm>
            <a:off x="5619600" y="2610000"/>
            <a:ext cx="952200" cy="3780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84;p19"/>
          <p:cNvSpPr/>
          <p:nvPr/>
        </p:nvSpPr>
        <p:spPr>
          <a:xfrm>
            <a:off x="209880" y="2647800"/>
            <a:ext cx="1160136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200" spc="-1" strike="noStrike">
                <a:solidFill>
                  <a:srgbClr val="f5f5f5"/>
                </a:solidFill>
                <a:latin typeface="Arial"/>
                <a:ea typeface="Arial"/>
              </a:rPr>
              <a:t>Практическая </a:t>
            </a:r>
            <a:r>
              <a:rPr b="0" lang="en-US" sz="6200" spc="-1" strike="noStrike">
                <a:solidFill>
                  <a:srgbClr val="deff9a"/>
                </a:solidFill>
                <a:latin typeface="Arial"/>
                <a:ea typeface="Arial"/>
              </a:rPr>
              <a:t>реализация</a:t>
            </a:r>
            <a:endParaRPr b="0" lang="ru-RU" sz="6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185;p19"/>
          <p:cNvSpPr/>
          <p:nvPr/>
        </p:nvSpPr>
        <p:spPr>
          <a:xfrm>
            <a:off x="486360" y="3571200"/>
            <a:ext cx="110487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cbd5e1"/>
                </a:solidFill>
                <a:latin typeface="Arial"/>
                <a:ea typeface="Arial"/>
              </a:rPr>
              <a:t>От проектирования интерфейса до алгоритмов аналитики</a:t>
            </a:r>
            <a:endParaRPr b="0" lang="ru-RU" sz="2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90;p20" descr=""/>
          <p:cNvPicPr/>
          <p:nvPr/>
        </p:nvPicPr>
        <p:blipFill>
          <a:blip r:embed="rId1"/>
          <a:srcRect l="1589" t="0" r="1589" b="0"/>
          <a:stretch/>
        </p:blipFill>
        <p:spPr>
          <a:xfrm>
            <a:off x="290880" y="3466080"/>
            <a:ext cx="5991120" cy="336996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91;p20"/>
          <p:cNvSpPr/>
          <p:nvPr/>
        </p:nvSpPr>
        <p:spPr>
          <a:xfrm>
            <a:off x="447840" y="405000"/>
            <a:ext cx="58345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Интерфейс </a:t>
            </a: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тренажера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192;p20"/>
          <p:cNvSpPr/>
          <p:nvPr/>
        </p:nvSpPr>
        <p:spPr>
          <a:xfrm>
            <a:off x="447840" y="1367640"/>
            <a:ext cx="49525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Реализовано 3 ключевых режима: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Google Shape;193;p20"/>
          <p:cNvSpPr/>
          <p:nvPr/>
        </p:nvSpPr>
        <p:spPr>
          <a:xfrm>
            <a:off x="447840" y="1937520"/>
            <a:ext cx="49525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33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Обучение (теория в PNG)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194;p20"/>
          <p:cNvSpPr/>
          <p:nvPr/>
        </p:nvSpPr>
        <p:spPr>
          <a:xfrm>
            <a:off x="388800" y="2409480"/>
            <a:ext cx="495252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333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Тренировка (случайные задачи)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195;p20"/>
          <p:cNvSpPr/>
          <p:nvPr/>
        </p:nvSpPr>
        <p:spPr>
          <a:xfrm>
            <a:off x="447840" y="2881800"/>
            <a:ext cx="5252760" cy="48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379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Полный вариант (10 заданий + таймер)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Google Shape;196;p20" descr="image.png"/>
          <p:cNvPicPr/>
          <p:nvPr/>
        </p:nvPicPr>
        <p:blipFill>
          <a:blip r:embed="rId2"/>
          <a:stretch/>
        </p:blipFill>
        <p:spPr>
          <a:xfrm>
            <a:off x="410400" y="217620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197;p20" descr="image.png"/>
          <p:cNvPicPr/>
          <p:nvPr/>
        </p:nvPicPr>
        <p:blipFill>
          <a:blip r:embed="rId3"/>
          <a:stretch/>
        </p:blipFill>
        <p:spPr>
          <a:xfrm>
            <a:off x="399960" y="2682000"/>
            <a:ext cx="237600" cy="19980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198;p20" descr="image.png"/>
          <p:cNvPicPr/>
          <p:nvPr/>
        </p:nvPicPr>
        <p:blipFill>
          <a:blip r:embed="rId4"/>
          <a:stretch/>
        </p:blipFill>
        <p:spPr>
          <a:xfrm>
            <a:off x="433440" y="3112200"/>
            <a:ext cx="142560" cy="199800"/>
          </a:xfrm>
          <a:prstGeom prst="rect">
            <a:avLst/>
          </a:prstGeom>
          <a:ln w="0">
            <a:noFill/>
          </a:ln>
        </p:spPr>
      </p:pic>
      <p:pic>
        <p:nvPicPr>
          <p:cNvPr id="154" name="Google Shape;199;p20" descr=""/>
          <p:cNvPicPr/>
          <p:nvPr/>
        </p:nvPicPr>
        <p:blipFill>
          <a:blip r:embed="rId5"/>
          <a:stretch/>
        </p:blipFill>
        <p:spPr>
          <a:xfrm>
            <a:off x="6492960" y="0"/>
            <a:ext cx="6187680" cy="3369960"/>
          </a:xfrm>
          <a:prstGeom prst="rect">
            <a:avLst/>
          </a:prstGeom>
          <a:ln w="0">
            <a:noFill/>
          </a:ln>
        </p:spPr>
      </p:pic>
      <p:pic>
        <p:nvPicPr>
          <p:cNvPr id="155" name="Google Shape;200;p20" descr=""/>
          <p:cNvPicPr/>
          <p:nvPr/>
        </p:nvPicPr>
        <p:blipFill>
          <a:blip r:embed="rId6"/>
          <a:stretch/>
        </p:blipFill>
        <p:spPr>
          <a:xfrm>
            <a:off x="6492960" y="3420360"/>
            <a:ext cx="6340680" cy="3453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205;p21"/>
          <p:cNvSpPr/>
          <p:nvPr/>
        </p:nvSpPr>
        <p:spPr>
          <a:xfrm>
            <a:off x="304200" y="2446920"/>
            <a:ext cx="4918680" cy="21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Arial"/>
                <a:ea typeface="Arial"/>
              </a:rPr>
              <a:t>Гистограмма позволяет мгновенно выявить "провальные" темы, требующие дополнительной отработки.</a:t>
            </a:r>
            <a:endParaRPr b="0" lang="ru-RU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Google Shape;206;p21"/>
          <p:cNvSpPr/>
          <p:nvPr/>
        </p:nvSpPr>
        <p:spPr>
          <a:xfrm>
            <a:off x="624960" y="471240"/>
            <a:ext cx="5024520" cy="142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Визуализация </a:t>
            </a: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прогресса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8" name="Google Shape;207;p21" descr=""/>
          <p:cNvPicPr/>
          <p:nvPr/>
        </p:nvPicPr>
        <p:blipFill>
          <a:blip r:embed="rId1"/>
          <a:stretch/>
        </p:blipFill>
        <p:spPr>
          <a:xfrm>
            <a:off x="6426000" y="3801960"/>
            <a:ext cx="4918680" cy="265824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208;p21" descr=""/>
          <p:cNvPicPr/>
          <p:nvPr/>
        </p:nvPicPr>
        <p:blipFill>
          <a:blip r:embed="rId2"/>
          <a:stretch/>
        </p:blipFill>
        <p:spPr>
          <a:xfrm>
            <a:off x="6426000" y="868320"/>
            <a:ext cx="4918680" cy="248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213;p22"/>
          <p:cNvSpPr/>
          <p:nvPr/>
        </p:nvSpPr>
        <p:spPr>
          <a:xfrm>
            <a:off x="571680" y="571680"/>
            <a:ext cx="1160136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Тестирование</a:t>
            </a: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 приложения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" name="Google Shape;214;p22" descr=""/>
          <p:cNvPicPr/>
          <p:nvPr/>
        </p:nvPicPr>
        <p:blipFill>
          <a:blip r:embed="rId1"/>
          <a:stretch/>
        </p:blipFill>
        <p:spPr>
          <a:xfrm>
            <a:off x="9269280" y="1804680"/>
            <a:ext cx="2757600" cy="3688200"/>
          </a:xfrm>
          <a:prstGeom prst="rect">
            <a:avLst/>
          </a:prstGeom>
          <a:ln w="0">
            <a:noFill/>
          </a:ln>
        </p:spPr>
      </p:pic>
      <p:pic>
        <p:nvPicPr>
          <p:cNvPr id="162" name="Google Shape;215;p22" descr=""/>
          <p:cNvPicPr/>
          <p:nvPr/>
        </p:nvPicPr>
        <p:blipFill>
          <a:blip r:embed="rId2"/>
          <a:stretch/>
        </p:blipFill>
        <p:spPr>
          <a:xfrm>
            <a:off x="571320" y="1805040"/>
            <a:ext cx="5104800" cy="3816720"/>
          </a:xfrm>
          <a:prstGeom prst="rect">
            <a:avLst/>
          </a:prstGeom>
          <a:ln w="0">
            <a:noFill/>
          </a:ln>
        </p:spPr>
      </p:pic>
      <p:pic>
        <p:nvPicPr>
          <p:cNvPr id="163" name="Google Shape;216;p22" descr=""/>
          <p:cNvPicPr/>
          <p:nvPr/>
        </p:nvPicPr>
        <p:blipFill>
          <a:blip r:embed="rId3"/>
          <a:stretch/>
        </p:blipFill>
        <p:spPr>
          <a:xfrm>
            <a:off x="6149520" y="1805040"/>
            <a:ext cx="2757600" cy="368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221;p2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65" name="Google Shape;222;p23" descr="image.png"/>
          <p:cNvPicPr/>
          <p:nvPr/>
        </p:nvPicPr>
        <p:blipFill>
          <a:blip r:embed="rId2"/>
          <a:stretch/>
        </p:blipFill>
        <p:spPr>
          <a:xfrm>
            <a:off x="571680" y="1289880"/>
            <a:ext cx="11048760" cy="4278240"/>
          </a:xfrm>
          <a:prstGeom prst="rect">
            <a:avLst/>
          </a:prstGeom>
          <a:ln w="0">
            <a:noFill/>
          </a:ln>
        </p:spPr>
      </p:pic>
      <p:sp>
        <p:nvSpPr>
          <p:cNvPr id="166" name="Google Shape;223;p23"/>
          <p:cNvSpPr/>
          <p:nvPr/>
        </p:nvSpPr>
        <p:spPr>
          <a:xfrm>
            <a:off x="895320" y="1861200"/>
            <a:ext cx="1040112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000" spc="-1" strike="noStrike">
                <a:solidFill>
                  <a:srgbClr val="f5f5f5"/>
                </a:solidFill>
                <a:latin typeface="Arial"/>
                <a:ea typeface="Arial"/>
              </a:rPr>
              <a:t>Демонстрация </a:t>
            </a:r>
            <a:r>
              <a:rPr b="0" lang="en-US" sz="6000" spc="-1" strike="noStrike">
                <a:solidFill>
                  <a:srgbClr val="deff9a"/>
                </a:solidFill>
                <a:latin typeface="Arial"/>
                <a:ea typeface="Arial"/>
              </a:rPr>
              <a:t>приложения</a:t>
            </a:r>
            <a:endParaRPr b="0" lang="ru-RU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24;p23"/>
          <p:cNvSpPr/>
          <p:nvPr/>
        </p:nvSpPr>
        <p:spPr>
          <a:xfrm>
            <a:off x="1143000" y="3080520"/>
            <a:ext cx="9905760" cy="58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deff9a"/>
                </a:solidFill>
                <a:latin typeface="Arial"/>
                <a:ea typeface="Arial"/>
              </a:rPr>
              <a:t>Переходим к показу функционала приложения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Google Shape;225;p23" descr="image.png"/>
          <p:cNvPicPr/>
          <p:nvPr/>
        </p:nvPicPr>
        <p:blipFill>
          <a:blip r:embed="rId3"/>
          <a:stretch/>
        </p:blipFill>
        <p:spPr>
          <a:xfrm>
            <a:off x="5738760" y="4044240"/>
            <a:ext cx="713880" cy="95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35640" y="-82800"/>
            <a:ext cx="12339000" cy="694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230;p2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71" name="Google Shape;231;p24" descr="image.png"/>
          <p:cNvPicPr/>
          <p:nvPr/>
        </p:nvPicPr>
        <p:blipFill>
          <a:blip r:embed="rId2"/>
          <a:stretch/>
        </p:blipFill>
        <p:spPr>
          <a:xfrm>
            <a:off x="571680" y="1992600"/>
            <a:ext cx="3524040" cy="3819240"/>
          </a:xfrm>
          <a:prstGeom prst="rect">
            <a:avLst/>
          </a:prstGeom>
          <a:ln w="0">
            <a:noFill/>
          </a:ln>
        </p:spPr>
      </p:pic>
      <p:pic>
        <p:nvPicPr>
          <p:cNvPr id="172" name="Google Shape;232;p24" descr="image.png"/>
          <p:cNvPicPr/>
          <p:nvPr/>
        </p:nvPicPr>
        <p:blipFill>
          <a:blip r:embed="rId3"/>
          <a:stretch/>
        </p:blipFill>
        <p:spPr>
          <a:xfrm>
            <a:off x="4334040" y="1992600"/>
            <a:ext cx="3524040" cy="3819240"/>
          </a:xfrm>
          <a:prstGeom prst="rect">
            <a:avLst/>
          </a:prstGeom>
          <a:ln w="0">
            <a:noFill/>
          </a:ln>
        </p:spPr>
      </p:pic>
      <p:pic>
        <p:nvPicPr>
          <p:cNvPr id="173" name="Google Shape;233;p24" descr="image.png"/>
          <p:cNvPicPr/>
          <p:nvPr/>
        </p:nvPicPr>
        <p:blipFill>
          <a:blip r:embed="rId4"/>
          <a:stretch/>
        </p:blipFill>
        <p:spPr>
          <a:xfrm>
            <a:off x="8096400" y="1992600"/>
            <a:ext cx="3524040" cy="3819240"/>
          </a:xfrm>
          <a:prstGeom prst="rect">
            <a:avLst/>
          </a:prstGeom>
          <a:ln w="0">
            <a:noFill/>
          </a:ln>
        </p:spPr>
      </p:pic>
      <p:pic>
        <p:nvPicPr>
          <p:cNvPr id="174" name="Google Shape;234;p24" descr="image.png"/>
          <p:cNvPicPr/>
          <p:nvPr/>
        </p:nvPicPr>
        <p:blipFill>
          <a:blip r:embed="rId5"/>
          <a:stretch/>
        </p:blipFill>
        <p:spPr>
          <a:xfrm>
            <a:off x="914400" y="2335320"/>
            <a:ext cx="618840" cy="618840"/>
          </a:xfrm>
          <a:prstGeom prst="rect">
            <a:avLst/>
          </a:prstGeom>
          <a:ln w="0">
            <a:noFill/>
          </a:ln>
        </p:spPr>
      </p:pic>
      <p:sp>
        <p:nvSpPr>
          <p:cNvPr id="175" name="Google Shape;235;p24"/>
          <p:cNvSpPr/>
          <p:nvPr/>
        </p:nvSpPr>
        <p:spPr>
          <a:xfrm>
            <a:off x="914400" y="3192840"/>
            <a:ext cx="29800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deff9a"/>
                </a:solidFill>
                <a:latin typeface="Arial"/>
                <a:ea typeface="Arial"/>
              </a:rPr>
              <a:t>Цель достигнута</a:t>
            </a:r>
            <a:endParaRPr b="0" lang="ru-RU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36;p24"/>
          <p:cNvSpPr/>
          <p:nvPr/>
        </p:nvSpPr>
        <p:spPr>
          <a:xfrm>
            <a:off x="843480" y="3687840"/>
            <a:ext cx="2980080" cy="17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cbd5e1"/>
                </a:solidFill>
                <a:latin typeface="Arial"/>
                <a:ea typeface="Arial"/>
              </a:rPr>
              <a:t>Разработан полнофункциональный прототип тренажера, готовый к использованию в учебном процессе.</a:t>
            </a:r>
            <a:endParaRPr b="0" lang="ru-RU" sz="15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Google Shape;237;p24" descr="image.png"/>
          <p:cNvPicPr/>
          <p:nvPr/>
        </p:nvPicPr>
        <p:blipFill>
          <a:blip r:embed="rId6"/>
          <a:stretch/>
        </p:blipFill>
        <p:spPr>
          <a:xfrm>
            <a:off x="4676760" y="2335320"/>
            <a:ext cx="618840" cy="618840"/>
          </a:xfrm>
          <a:prstGeom prst="rect">
            <a:avLst/>
          </a:prstGeom>
          <a:ln w="0">
            <a:noFill/>
          </a:ln>
        </p:spPr>
      </p:pic>
      <p:sp>
        <p:nvSpPr>
          <p:cNvPr id="178" name="Google Shape;238;p24"/>
          <p:cNvSpPr/>
          <p:nvPr/>
        </p:nvSpPr>
        <p:spPr>
          <a:xfrm>
            <a:off x="4676760" y="3192840"/>
            <a:ext cx="29800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deff9a"/>
                </a:solidFill>
                <a:latin typeface="Arial"/>
                <a:ea typeface="Arial"/>
              </a:rPr>
              <a:t>Гипотеза подтверждена</a:t>
            </a:r>
            <a:endParaRPr b="0" lang="ru-RU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239;p24"/>
          <p:cNvSpPr/>
          <p:nvPr/>
        </p:nvSpPr>
        <p:spPr>
          <a:xfrm>
            <a:off x="4676760" y="3687840"/>
            <a:ext cx="2838240" cy="177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cbd5e1"/>
                </a:solidFill>
                <a:latin typeface="Arial"/>
                <a:ea typeface="Arial"/>
              </a:rPr>
              <a:t>Визуальная аналитика и учет времени повышают осознанность подготовки и помогают точечно отрабатывать ошибки.</a:t>
            </a:r>
            <a:endParaRPr b="0" lang="ru-RU" sz="15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0" name="Google Shape;240;p24" descr="image.png"/>
          <p:cNvPicPr/>
          <p:nvPr/>
        </p:nvPicPr>
        <p:blipFill>
          <a:blip r:embed="rId7"/>
          <a:stretch/>
        </p:blipFill>
        <p:spPr>
          <a:xfrm>
            <a:off x="8439120" y="2335320"/>
            <a:ext cx="618840" cy="618840"/>
          </a:xfrm>
          <a:prstGeom prst="rect">
            <a:avLst/>
          </a:prstGeom>
          <a:ln w="0">
            <a:noFill/>
          </a:ln>
        </p:spPr>
      </p:pic>
      <p:sp>
        <p:nvSpPr>
          <p:cNvPr id="181" name="Google Shape;241;p24"/>
          <p:cNvSpPr/>
          <p:nvPr/>
        </p:nvSpPr>
        <p:spPr>
          <a:xfrm>
            <a:off x="8439120" y="3192840"/>
            <a:ext cx="2980080" cy="3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deff9a"/>
                </a:solidFill>
                <a:latin typeface="Arial"/>
                <a:ea typeface="Arial"/>
              </a:rPr>
              <a:t>Автономность</a:t>
            </a:r>
            <a:endParaRPr b="0" lang="ru-RU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242;p24"/>
          <p:cNvSpPr/>
          <p:nvPr/>
        </p:nvSpPr>
        <p:spPr>
          <a:xfrm>
            <a:off x="8439120" y="3687840"/>
            <a:ext cx="298008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1550" spc="-1" strike="noStrike">
                <a:solidFill>
                  <a:srgbClr val="cbd5e1"/>
                </a:solidFill>
                <a:latin typeface="Arial"/>
                <a:ea typeface="Arial"/>
              </a:rPr>
              <a:t>Локальное десктопное решение обеспечивает стабильную работу без зависимости от интернет-соединения.</a:t>
            </a:r>
            <a:endParaRPr b="0" lang="ru-RU" sz="15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3" name="Google Shape;243;p24" descr="image.png"/>
          <p:cNvPicPr/>
          <p:nvPr/>
        </p:nvPicPr>
        <p:blipFill>
          <a:blip r:embed="rId8"/>
          <a:stretch/>
        </p:blipFill>
        <p:spPr>
          <a:xfrm>
            <a:off x="1104840" y="2511720"/>
            <a:ext cx="237600" cy="266400"/>
          </a:xfrm>
          <a:prstGeom prst="rect">
            <a:avLst/>
          </a:prstGeom>
          <a:ln w="0">
            <a:noFill/>
          </a:ln>
        </p:spPr>
      </p:pic>
      <p:pic>
        <p:nvPicPr>
          <p:cNvPr id="184" name="Google Shape;244;p24" descr="image.png"/>
          <p:cNvPicPr/>
          <p:nvPr/>
        </p:nvPicPr>
        <p:blipFill>
          <a:blip r:embed="rId9"/>
          <a:stretch/>
        </p:blipFill>
        <p:spPr>
          <a:xfrm>
            <a:off x="4853160" y="2511720"/>
            <a:ext cx="266400" cy="266400"/>
          </a:xfrm>
          <a:prstGeom prst="rect">
            <a:avLst/>
          </a:prstGeom>
          <a:ln w="0">
            <a:noFill/>
          </a:ln>
        </p:spPr>
      </p:pic>
      <p:pic>
        <p:nvPicPr>
          <p:cNvPr id="185" name="Google Shape;245;p24" descr="image.png"/>
          <p:cNvPicPr/>
          <p:nvPr/>
        </p:nvPicPr>
        <p:blipFill>
          <a:blip r:embed="rId10"/>
          <a:stretch/>
        </p:blipFill>
        <p:spPr>
          <a:xfrm>
            <a:off x="8615520" y="2511720"/>
            <a:ext cx="266400" cy="266400"/>
          </a:xfrm>
          <a:prstGeom prst="rect">
            <a:avLst/>
          </a:prstGeom>
          <a:ln w="0">
            <a:noFill/>
          </a:ln>
        </p:spPr>
      </p:pic>
      <p:sp>
        <p:nvSpPr>
          <p:cNvPr id="186" name="Google Shape;246;p24"/>
          <p:cNvSpPr/>
          <p:nvPr/>
        </p:nvSpPr>
        <p:spPr>
          <a:xfrm>
            <a:off x="571680" y="571680"/>
            <a:ext cx="1160136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Основные </a:t>
            </a: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выводы</a:t>
            </a: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 проекта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251;p2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88" name="Google Shape;252;p25"/>
          <p:cNvSpPr/>
          <p:nvPr/>
        </p:nvSpPr>
        <p:spPr>
          <a:xfrm>
            <a:off x="1143000" y="1746000"/>
            <a:ext cx="89532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Полный охват Государственных экзаменов: добавить поддержку ОГЭ и ЕГЭ по всем предметам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253;p25"/>
          <p:cNvSpPr/>
          <p:nvPr/>
        </p:nvSpPr>
        <p:spPr>
          <a:xfrm>
            <a:off x="1143000" y="2824200"/>
            <a:ext cx="89532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Геймификация: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Внедрение системы достижений и уровней мастерства для мотивации.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Google Shape;254;p25"/>
          <p:cNvSpPr/>
          <p:nvPr/>
        </p:nvSpPr>
        <p:spPr>
          <a:xfrm>
            <a:off x="1143000" y="3902400"/>
            <a:ext cx="89532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Синхронизация: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Возможность облачного бэкапа статистики для работы с разных устройств.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255;p25"/>
          <p:cNvSpPr/>
          <p:nvPr/>
        </p:nvSpPr>
        <p:spPr>
          <a:xfrm>
            <a:off x="1143000" y="4980240"/>
            <a:ext cx="8953200" cy="97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AI-помощник:</a:t>
            </a: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 Автоматическая генерация рекомендаций на основе ошибок.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Google Shape;256;p25" descr="image.png"/>
          <p:cNvPicPr/>
          <p:nvPr/>
        </p:nvPicPr>
        <p:blipFill>
          <a:blip r:embed="rId2"/>
          <a:stretch/>
        </p:blipFill>
        <p:spPr>
          <a:xfrm>
            <a:off x="576000" y="1980360"/>
            <a:ext cx="304560" cy="323640"/>
          </a:xfrm>
          <a:prstGeom prst="rect">
            <a:avLst/>
          </a:prstGeom>
          <a:ln w="0">
            <a:noFill/>
          </a:ln>
        </p:spPr>
      </p:pic>
      <p:pic>
        <p:nvPicPr>
          <p:cNvPr id="193" name="Google Shape;257;p25" descr="image.png"/>
          <p:cNvPicPr/>
          <p:nvPr/>
        </p:nvPicPr>
        <p:blipFill>
          <a:blip r:embed="rId3"/>
          <a:stretch/>
        </p:blipFill>
        <p:spPr>
          <a:xfrm>
            <a:off x="576000" y="3060360"/>
            <a:ext cx="380520" cy="323640"/>
          </a:xfrm>
          <a:prstGeom prst="rect">
            <a:avLst/>
          </a:prstGeom>
          <a:ln w="0">
            <a:noFill/>
          </a:ln>
        </p:spPr>
      </p:pic>
      <p:pic>
        <p:nvPicPr>
          <p:cNvPr id="194" name="Google Shape;258;p25" descr="image.png"/>
          <p:cNvPicPr/>
          <p:nvPr/>
        </p:nvPicPr>
        <p:blipFill>
          <a:blip r:embed="rId4"/>
          <a:stretch/>
        </p:blipFill>
        <p:spPr>
          <a:xfrm>
            <a:off x="555480" y="4104000"/>
            <a:ext cx="380520" cy="323640"/>
          </a:xfrm>
          <a:prstGeom prst="rect">
            <a:avLst/>
          </a:prstGeom>
          <a:ln w="0">
            <a:noFill/>
          </a:ln>
        </p:spPr>
      </p:pic>
      <p:pic>
        <p:nvPicPr>
          <p:cNvPr id="195" name="Google Shape;259;p25" descr="image.png"/>
          <p:cNvPicPr/>
          <p:nvPr/>
        </p:nvPicPr>
        <p:blipFill>
          <a:blip r:embed="rId5"/>
          <a:stretch/>
        </p:blipFill>
        <p:spPr>
          <a:xfrm>
            <a:off x="576000" y="5184000"/>
            <a:ext cx="380520" cy="323640"/>
          </a:xfrm>
          <a:prstGeom prst="rect">
            <a:avLst/>
          </a:prstGeom>
          <a:ln w="0">
            <a:noFill/>
          </a:ln>
        </p:spPr>
      </p:pic>
      <p:sp>
        <p:nvSpPr>
          <p:cNvPr id="196" name="Google Shape;260;p25"/>
          <p:cNvSpPr/>
          <p:nvPr/>
        </p:nvSpPr>
        <p:spPr>
          <a:xfrm>
            <a:off x="571680" y="571680"/>
            <a:ext cx="1160136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250" spc="-1" strike="noStrike">
                <a:solidFill>
                  <a:srgbClr val="f5f5f5"/>
                </a:solidFill>
                <a:latin typeface="Arial"/>
                <a:ea typeface="Arial"/>
              </a:rPr>
              <a:t>Вектор развития </a:t>
            </a:r>
            <a:r>
              <a:rPr b="0" lang="en-US" sz="4250" spc="-1" strike="noStrike">
                <a:solidFill>
                  <a:srgbClr val="deff9a"/>
                </a:solidFill>
                <a:latin typeface="Arial"/>
                <a:ea typeface="Arial"/>
              </a:rPr>
              <a:t>продукта</a:t>
            </a:r>
            <a:endParaRPr b="0" lang="ru-RU" sz="4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265;p2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98" name="Google Shape;266;p26" descr="image.png"/>
          <p:cNvPicPr/>
          <p:nvPr/>
        </p:nvPicPr>
        <p:blipFill>
          <a:blip r:embed="rId2"/>
          <a:stretch/>
        </p:blipFill>
        <p:spPr>
          <a:xfrm>
            <a:off x="7095960" y="1997280"/>
            <a:ext cx="3809520" cy="3809520"/>
          </a:xfrm>
          <a:prstGeom prst="rect">
            <a:avLst/>
          </a:prstGeom>
          <a:ln w="0">
            <a:noFill/>
          </a:ln>
        </p:spPr>
      </p:pic>
      <p:sp>
        <p:nvSpPr>
          <p:cNvPr id="199" name="Google Shape;267;p26"/>
          <p:cNvSpPr/>
          <p:nvPr/>
        </p:nvSpPr>
        <p:spPr>
          <a:xfrm>
            <a:off x="571680" y="1895400"/>
            <a:ext cx="55004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f5f5f5"/>
                </a:solidFill>
                <a:latin typeface="Arial"/>
                <a:ea typeface="Arial"/>
              </a:rPr>
              <a:t>Проект на GitHub</a:t>
            </a:r>
            <a:endParaRPr b="0" lang="ru-RU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Google Shape;268;p26"/>
          <p:cNvSpPr/>
          <p:nvPr/>
        </p:nvSpPr>
        <p:spPr>
          <a:xfrm>
            <a:off x="571680" y="2642760"/>
            <a:ext cx="5238720" cy="195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cbd5e1"/>
                </a:solidFill>
                <a:latin typeface="Arial"/>
                <a:ea typeface="Arial"/>
              </a:rPr>
              <a:t>Весь исходный код приложения, структура JSON-базы заданий и модули аналитики размещены в открытом репозитории для ознакомления и доработки.</a:t>
            </a:r>
            <a:endParaRPr b="0" lang="ru-RU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1" name="Google Shape;269;p26" descr="image.png"/>
          <p:cNvPicPr/>
          <p:nvPr/>
        </p:nvPicPr>
        <p:blipFill>
          <a:blip r:embed="rId3"/>
          <a:stretch/>
        </p:blipFill>
        <p:spPr>
          <a:xfrm>
            <a:off x="7105680" y="2006640"/>
            <a:ext cx="3790440" cy="3790440"/>
          </a:xfrm>
          <a:prstGeom prst="rect">
            <a:avLst/>
          </a:prstGeom>
          <a:ln w="0">
            <a:noFill/>
          </a:ln>
        </p:spPr>
      </p:pic>
      <p:sp>
        <p:nvSpPr>
          <p:cNvPr id="202" name="Google Shape;270;p26"/>
          <p:cNvSpPr/>
          <p:nvPr/>
        </p:nvSpPr>
        <p:spPr>
          <a:xfrm>
            <a:off x="571680" y="571680"/>
            <a:ext cx="11601360" cy="7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4450" spc="-1" strike="noStrike">
                <a:solidFill>
                  <a:srgbClr val="f5f5f5"/>
                </a:solidFill>
                <a:latin typeface="Arial"/>
                <a:ea typeface="Arial"/>
              </a:rPr>
              <a:t>Открытый </a:t>
            </a:r>
            <a:r>
              <a:rPr b="0" lang="en-US" sz="4450" spc="-1" strike="noStrike">
                <a:solidFill>
                  <a:srgbClr val="deff9a"/>
                </a:solidFill>
                <a:latin typeface="Arial"/>
                <a:ea typeface="Arial"/>
              </a:rPr>
              <a:t>исходный код</a:t>
            </a:r>
            <a:endParaRPr b="0" lang="ru-RU" sz="44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3" name="Google Shape;271;p26" descr=""/>
          <p:cNvPicPr/>
          <p:nvPr/>
        </p:nvPicPr>
        <p:blipFill>
          <a:blip r:embed="rId4"/>
          <a:stretch/>
        </p:blipFill>
        <p:spPr>
          <a:xfrm>
            <a:off x="6562800" y="1463760"/>
            <a:ext cx="4876560" cy="4876560"/>
          </a:xfrm>
          <a:prstGeom prst="rect">
            <a:avLst/>
          </a:prstGeom>
          <a:ln w="0">
            <a:noFill/>
          </a:ln>
        </p:spPr>
      </p:pic>
      <p:sp>
        <p:nvSpPr>
          <p:cNvPr id="204" name="Google Shape;272;p26"/>
          <p:cNvSpPr/>
          <p:nvPr/>
        </p:nvSpPr>
        <p:spPr>
          <a:xfrm>
            <a:off x="571680" y="5299200"/>
            <a:ext cx="4977720" cy="507960"/>
          </a:xfrm>
          <a:prstGeom prst="rect">
            <a:avLst/>
          </a:prstGeom>
          <a:solidFill>
            <a:srgbClr val="d9ead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chemeClr val="dk1"/>
                </a:solidFill>
                <a:latin typeface="Arial"/>
                <a:ea typeface="Arial"/>
              </a:rPr>
              <a:t>github.com/anton953/oge_ticher_app.git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77;p2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06" name="Google Shape;278;p27"/>
          <p:cNvSpPr/>
          <p:nvPr/>
        </p:nvSpPr>
        <p:spPr>
          <a:xfrm>
            <a:off x="2218680" y="1627200"/>
            <a:ext cx="7754400" cy="140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600" spc="-1" strike="noStrike">
                <a:solidFill>
                  <a:srgbClr val="deff9a"/>
                </a:solidFill>
                <a:latin typeface="Arial"/>
                <a:ea typeface="Arial"/>
              </a:rPr>
              <a:t>Благодарю за внимание к моему проекту!</a:t>
            </a:r>
            <a:endParaRPr b="0" lang="ru-RU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279;p27"/>
          <p:cNvSpPr/>
          <p:nvPr/>
        </p:nvSpPr>
        <p:spPr>
          <a:xfrm>
            <a:off x="571680" y="3645000"/>
            <a:ext cx="110487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Arial"/>
              </a:rPr>
              <a:t>Проект "OGE Teacher App" готов к масштабированию и внедрению.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Google Shape;280;p27"/>
          <p:cNvSpPr/>
          <p:nvPr/>
        </p:nvSpPr>
        <p:spPr>
          <a:xfrm>
            <a:off x="571680" y="4110120"/>
            <a:ext cx="1104876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900" spc="-1" strike="noStrike">
                <a:solidFill>
                  <a:srgbClr val="94a3b8"/>
                </a:solidFill>
                <a:latin typeface="Arial"/>
                <a:ea typeface="Arial"/>
              </a:rPr>
              <a:t>Все задачи выполнены в полном объеме. Цель достигнута.</a:t>
            </a:r>
            <a:br>
              <a:rPr sz="1900"/>
            </a:br>
            <a:r>
              <a:rPr b="0" lang="en-US" sz="1900" spc="-1" strike="noStrike">
                <a:solidFill>
                  <a:srgbClr val="deff9a"/>
                </a:solidFill>
                <a:latin typeface="Arial"/>
                <a:ea typeface="Arial"/>
              </a:rPr>
              <a:t>СПб, 2026</a:t>
            </a:r>
            <a:endParaRPr b="0" lang="ru-RU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2026-05-18T23:29:38Z</dcterms:modified>
  <cp:revision>1</cp:revision>
  <dc:subject/>
  <dc:title/>
</cp:coreProperties>
</file>