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Inter"/>
      <p:regular r:id="rId23"/>
      <p:bold r:id="rId24"/>
      <p:italic r:id="rId25"/>
      <p:boldItalic r:id="rId26"/>
    </p:embeddedFont>
    <p:embeddedFont>
      <p:font typeface="Urbanist Medium"/>
      <p:regular r:id="rId27"/>
      <p:bold r:id="rId28"/>
      <p:italic r:id="rId29"/>
      <p:boldItalic r:id="rId30"/>
    </p:embeddedFont>
    <p:embeddedFont>
      <p:font typeface="Urbanis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98B5ED-4FAA-43DB-9839-1A0171FE6B4E}">
  <a:tblStyle styleId="{C698B5ED-4FAA-43DB-9839-1A0171FE6B4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UrbanistMedium-bold.fntdata"/><Relationship Id="rId27" Type="http://schemas.openxmlformats.org/officeDocument/2006/relationships/font" Target="fonts/Urbanist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regular.fntdata"/><Relationship Id="rId30" Type="http://schemas.openxmlformats.org/officeDocument/2006/relationships/font" Target="fonts/Urbanist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Urbanist-italic.fntdata"/><Relationship Id="rId10" Type="http://schemas.openxmlformats.org/officeDocument/2006/relationships/slide" Target="slides/slide4.xml"/><Relationship Id="rId32" Type="http://schemas.openxmlformats.org/officeDocument/2006/relationships/font" Target="fonts/Urban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2bdabaa0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2bdabaa0c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2bdabaa0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2bdabaa0c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2bdabaa0c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2bdabaa0c_0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2bdabaa0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e2bdabaa0c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2bdabaa0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e2bdabaa0c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2bdabaa0c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e2bdabaa0c_0_3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1.png"/><Relationship Id="rId13" Type="http://schemas.openxmlformats.org/officeDocument/2006/relationships/image" Target="../media/image6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9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39.png"/><Relationship Id="rId5" Type="http://schemas.openxmlformats.org/officeDocument/2006/relationships/image" Target="../media/image13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jpg"/><Relationship Id="rId4" Type="http://schemas.openxmlformats.org/officeDocument/2006/relationships/image" Target="../media/image47.jpg"/><Relationship Id="rId5" Type="http://schemas.openxmlformats.org/officeDocument/2006/relationships/image" Target="../media/image48.jp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29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9" Type="http://schemas.openxmlformats.org/officeDocument/2006/relationships/image" Target="../media/image37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34.png"/><Relationship Id="rId8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46.png"/><Relationship Id="rId5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Relationship Id="rId6" Type="http://schemas.openxmlformats.org/officeDocument/2006/relationships/image" Target="../media/image41.png"/><Relationship Id="rId7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40.png"/><Relationship Id="rId5" Type="http://schemas.openxmlformats.org/officeDocument/2006/relationships/image" Target="../media/image45.png"/><Relationship Id="rId6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00" y="2386615"/>
            <a:ext cx="11601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OGE Teacher</a:t>
            </a:r>
            <a:r>
              <a:rPr b="0" i="0" lang="en-US" sz="6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App</a:t>
            </a:r>
            <a:endParaRPr sz="2200"/>
          </a:p>
        </p:txBody>
      </p:sp>
      <p:sp>
        <p:nvSpPr>
          <p:cNvPr id="86" name="Google Shape;86;p13"/>
          <p:cNvSpPr txBox="1"/>
          <p:nvPr/>
        </p:nvSpPr>
        <p:spPr>
          <a:xfrm>
            <a:off x="624400" y="3487265"/>
            <a:ext cx="1104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2"/>
                </a:solidFill>
              </a:rPr>
              <a:t>Интерактивный тренажер для подготовки к ОГЭ по информатике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107060"/>
            <a:ext cx="110490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50" u="none" cap="none" strike="noStrike">
                <a:solidFill>
                  <a:srgbClr val="CBD5E1"/>
                </a:solidFill>
              </a:rPr>
              <a:t>Выполнил: Душенков Антон Александрович, 10В класс</a:t>
            </a:r>
            <a:br>
              <a:rPr i="0" lang="en-US" sz="2300" u="none" cap="none" strike="noStrike">
                <a:solidFill>
                  <a:srgbClr val="CBD5E1"/>
                </a:solidFill>
              </a:rPr>
            </a:br>
            <a:r>
              <a:rPr i="0" lang="en-US" sz="1850" u="none" cap="none" strike="noStrike">
                <a:solidFill>
                  <a:srgbClr val="CBD5E1"/>
                </a:solidFill>
              </a:rPr>
              <a:t> Руководитель: Келбусова С.С.</a:t>
            </a:r>
            <a:br>
              <a:rPr i="0" lang="en-US" sz="2300" u="none" cap="none" strike="noStrike">
                <a:solidFill>
                  <a:srgbClr val="CBD5E1"/>
                </a:solidFill>
              </a:rPr>
            </a:br>
            <a:r>
              <a:rPr i="0" lang="en-US" sz="1850" u="none" cap="none" strike="noStrike">
                <a:solidFill>
                  <a:srgbClr val="CBD5E1"/>
                </a:solidFill>
              </a:rPr>
              <a:t> ГБОУ Лицей № 554, СПб, 2026</a:t>
            </a:r>
            <a:endParaRPr sz="190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047750" y="2030896"/>
            <a:ext cx="80964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BD5E1"/>
                </a:solidFill>
              </a:rPr>
              <a:t>Цель:</a:t>
            </a:r>
            <a:r>
              <a:rPr i="0" lang="en-US" sz="2200" u="none" cap="none" strike="noStrike">
                <a:solidFill>
                  <a:srgbClr val="CBD5E1"/>
                </a:solidFill>
              </a:rPr>
              <a:t> Разработать ПО на Python для автоматизации подготовки и повышения эффективности самоконтроля.</a:t>
            </a:r>
            <a:endParaRPr sz="1800"/>
          </a:p>
        </p:txBody>
      </p:sp>
      <p:sp>
        <p:nvSpPr>
          <p:cNvPr id="94" name="Google Shape;94;p14"/>
          <p:cNvSpPr txBox="1"/>
          <p:nvPr/>
        </p:nvSpPr>
        <p:spPr>
          <a:xfrm>
            <a:off x="1047750" y="3259649"/>
            <a:ext cx="809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CBD5E1"/>
                </a:solidFill>
              </a:rPr>
              <a:t>Проанализировать актуальные требования ФИПИ 2026.</a:t>
            </a:r>
            <a:endParaRPr sz="1800"/>
          </a:p>
        </p:txBody>
      </p:sp>
      <p:sp>
        <p:nvSpPr>
          <p:cNvPr id="95" name="Google Shape;95;p14"/>
          <p:cNvSpPr txBox="1"/>
          <p:nvPr/>
        </p:nvSpPr>
        <p:spPr>
          <a:xfrm>
            <a:off x="1047750" y="3946896"/>
            <a:ext cx="80964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CBD5E1"/>
                </a:solidFill>
              </a:rPr>
              <a:t>Реализовать модули тестирования, учета времени и статистики.</a:t>
            </a:r>
            <a:endParaRPr sz="1800"/>
          </a:p>
        </p:txBody>
      </p:sp>
      <p:sp>
        <p:nvSpPr>
          <p:cNvPr id="96" name="Google Shape;96;p14"/>
          <p:cNvSpPr txBox="1"/>
          <p:nvPr/>
        </p:nvSpPr>
        <p:spPr>
          <a:xfrm>
            <a:off x="1047750" y="5175653"/>
            <a:ext cx="809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CBD5E1"/>
                </a:solidFill>
              </a:rPr>
              <a:t>Внедрить инструменты визуальной аналитики "слабых мест".</a:t>
            </a:r>
            <a:endParaRPr sz="1800"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692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9088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4127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206879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71500"/>
            <a:ext cx="116016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50" u="none" cap="none" strike="noStrike">
                <a:solidFill>
                  <a:srgbClr val="F5F5F5"/>
                </a:solidFill>
              </a:rPr>
              <a:t>Цели и задачи </a:t>
            </a:r>
            <a:r>
              <a:rPr i="0" lang="en-US" sz="4250" u="none" cap="none" strike="noStrike">
                <a:solidFill>
                  <a:srgbClr val="DEFF9A"/>
                </a:solidFill>
              </a:rPr>
              <a:t>проекта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8195"/>
            <a:ext cx="11049000" cy="47683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50" u="none" cap="none" strike="noStrike">
                <a:solidFill>
                  <a:srgbClr val="F5F5F5"/>
                </a:solidFill>
              </a:rPr>
              <a:t>Потребности </a:t>
            </a:r>
            <a:r>
              <a:rPr i="0" lang="en-US" sz="4050" u="none" cap="none" strike="noStrike">
                <a:solidFill>
                  <a:srgbClr val="DEFF9A"/>
                </a:solidFill>
              </a:rPr>
              <a:t>аудитории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" name="Google Shape;114;p16"/>
          <p:cNvGraphicFramePr/>
          <p:nvPr/>
        </p:nvGraphicFramePr>
        <p:xfrm>
          <a:off x="571500" y="24306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{C698B5ED-4FAA-43DB-9839-1A0171FE6B4E}</a:tableStyleId>
              </a:tblPr>
              <a:tblGrid>
                <a:gridCol w="3220500"/>
                <a:gridCol w="2118725"/>
                <a:gridCol w="2500750"/>
                <a:gridCol w="3209025"/>
              </a:tblGrid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Критерий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Решу ОГЭ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Банк ФИПИ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OGE Teacher App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Персональная аналитика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Поверхностная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Отсутствует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Глубокая (QtCharts)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Оффлайн-режим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Нет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Частично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Полная автономность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Учет времени (таймер)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Базовый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Нет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Индивидуальный трекинг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Интерфейс (UI/UX)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Устаревший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Минималистичный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Современный (PySide6)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16"/>
          <p:cNvSpPr/>
          <p:nvPr/>
        </p:nvSpPr>
        <p:spPr>
          <a:xfrm>
            <a:off x="571500" y="3059310"/>
            <a:ext cx="3220500" cy="19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791991" y="3059310"/>
            <a:ext cx="2118600" cy="19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5910708" y="3059310"/>
            <a:ext cx="2500800" cy="19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8411467" y="3059310"/>
            <a:ext cx="3209100" cy="19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71500" y="3692723"/>
            <a:ext cx="3220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3791991" y="3692723"/>
            <a:ext cx="2118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910708" y="3692723"/>
            <a:ext cx="2500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8411467" y="3692723"/>
            <a:ext cx="3209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71500" y="4311848"/>
            <a:ext cx="3220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3791991" y="4311848"/>
            <a:ext cx="2118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910708" y="4311848"/>
            <a:ext cx="2500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8411467" y="4311848"/>
            <a:ext cx="3209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71500" y="4930973"/>
            <a:ext cx="3220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3791991" y="4930973"/>
            <a:ext cx="2118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910708" y="4930973"/>
            <a:ext cx="2500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411467" y="4930973"/>
            <a:ext cx="3209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71500" y="5550098"/>
            <a:ext cx="3220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3791991" y="5550098"/>
            <a:ext cx="2118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910708" y="5550098"/>
            <a:ext cx="2500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8411467" y="5550098"/>
            <a:ext cx="3209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50" u="none" cap="none" strike="noStrike">
                <a:solidFill>
                  <a:srgbClr val="F5F5F5"/>
                </a:solidFill>
              </a:rPr>
              <a:t>Анализ </a:t>
            </a:r>
            <a:r>
              <a:rPr i="0" lang="en-US" sz="4050" u="none" cap="none" strike="noStrike">
                <a:solidFill>
                  <a:srgbClr val="DEFF9A"/>
                </a:solidFill>
              </a:rPr>
              <a:t>существующих</a:t>
            </a:r>
            <a:r>
              <a:rPr i="0" lang="en-US" sz="4050" u="none" cap="none" strike="noStrike">
                <a:solidFill>
                  <a:srgbClr val="F5F5F5"/>
                </a:solidFill>
              </a:rPr>
              <a:t> решений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15654"/>
            <a:ext cx="2619375" cy="2573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2615654"/>
            <a:ext cx="2619375" cy="2573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615654"/>
            <a:ext cx="2619375" cy="2573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1125" y="2615654"/>
            <a:ext cx="2619375" cy="2573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1092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866775" y="3672929"/>
            <a:ext cx="21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DEFF9A"/>
                </a:solidFill>
              </a:rPr>
              <a:t>Python 3.</a:t>
            </a:r>
            <a:r>
              <a:rPr lang="en-US" sz="1800">
                <a:solidFill>
                  <a:srgbClr val="DEFF9A"/>
                </a:solidFill>
              </a:rPr>
              <a:t>12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66775" y="4101554"/>
            <a:ext cx="20289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CBD5E1"/>
                </a:solidFill>
              </a:rPr>
              <a:t>Высокая скорость разработки и богатая экосистема библиотек.</a:t>
            </a:r>
            <a:endParaRPr sz="1600"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76650" y="291092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3676650" y="3672929"/>
            <a:ext cx="21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DEFF9A"/>
                </a:solidFill>
              </a:rPr>
              <a:t>PySide6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3676650" y="4101550"/>
            <a:ext cx="22890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CBD5E1"/>
                </a:solidFill>
              </a:rPr>
              <a:t>Официальный фреймворк Qt для создания кроссплатформенных GUI.</a:t>
            </a:r>
            <a:endParaRPr sz="1600"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291092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6486525" y="3672929"/>
            <a:ext cx="21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DEFF9A"/>
                </a:solidFill>
              </a:rPr>
              <a:t>QtCharts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486525" y="4101550"/>
            <a:ext cx="22890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CBD5E1"/>
                </a:solidFill>
              </a:rPr>
              <a:t>Встроенная визуализация данных без лишних зависимостей.</a:t>
            </a:r>
            <a:endParaRPr sz="1600"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96400" y="291092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9296400" y="3672929"/>
            <a:ext cx="21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DEFF9A"/>
                </a:solidFill>
              </a:rPr>
              <a:t>JSON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296400" y="4101550"/>
            <a:ext cx="22890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CBD5E1"/>
                </a:solidFill>
              </a:rPr>
              <a:t>Легковесный формат для локального хранения базы заданий и статистики.</a:t>
            </a:r>
            <a:endParaRPr sz="1600"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2512" y="3082379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48100" y="308237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57975" y="308237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82137" y="308237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50" u="none" cap="none" strike="noStrike">
                <a:solidFill>
                  <a:srgbClr val="F5F5F5"/>
                </a:solidFill>
              </a:rPr>
              <a:t>Технологический </a:t>
            </a:r>
            <a:r>
              <a:rPr i="0" lang="en-US" sz="4050" u="none" cap="none" strike="noStrike">
                <a:solidFill>
                  <a:srgbClr val="DEFF9A"/>
                </a:solidFill>
              </a:rPr>
              <a:t>стек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7273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2668785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F5F5F5"/>
                </a:solidFill>
              </a:rPr>
              <a:t>Модульная структура</a:t>
            </a:r>
            <a:endParaRPr sz="1800"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3078360"/>
            <a:ext cx="5238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Приложение построено на принципах ООП с четким разделением ответственности:</a:t>
            </a:r>
            <a:endParaRPr sz="1800"/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6798"/>
            <a:ext cx="5219699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725" y="4112410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UI Layer: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Пакет ui/ (PySide6 widgets)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71650" y="4530935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Logic Layer: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TaskManager, StatsManager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75" y="4995935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Layer: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JSON файлы заданий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3084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3089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30948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50" u="none" cap="none" strike="noStrike">
                <a:solidFill>
                  <a:srgbClr val="F5F5F5"/>
                </a:solidFill>
              </a:rPr>
              <a:t>Архитектура </a:t>
            </a:r>
            <a:r>
              <a:rPr i="0" lang="en-US" sz="4050" u="none" cap="none" strike="noStrike">
                <a:solidFill>
                  <a:srgbClr val="DEFF9A"/>
                </a:solidFill>
              </a:rPr>
              <a:t>Model-View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/>
          <p:nvPr/>
        </p:nvSpPr>
        <p:spPr>
          <a:xfrm>
            <a:off x="5619750" y="260985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295275" y="302895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Практическая </a:t>
            </a:r>
            <a:r>
              <a:rPr b="0" i="0" lang="en-US" sz="6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реализация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41338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От проектирования интерфейса до алгоритмов аналитики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title="Screenshot_20260517_192352.png"/>
          <p:cNvPicPr preferRelativeResize="0"/>
          <p:nvPr/>
        </p:nvPicPr>
        <p:blipFill rotWithShape="1">
          <a:blip r:embed="rId3">
            <a:alphaModFix/>
          </a:blip>
          <a:srcRect b="0" l="1588" r="1588" t="0"/>
          <a:stretch/>
        </p:blipFill>
        <p:spPr>
          <a:xfrm>
            <a:off x="6672051" y="405150"/>
            <a:ext cx="5064151" cy="284858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447675" y="405154"/>
            <a:ext cx="52008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Интерфейс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тренажера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447675" y="136754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Реализовано 3 ключевых режима: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447675" y="3194845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Использование QTimer для отслеживания времени решения каждой задачи.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47675" y="193754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Обучение (теория в PNG)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47675" y="224234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Тренировка (случайные задачи)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447675" y="254714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Полный вариант (10 заданий + таймер)</a:t>
            </a:r>
            <a:endParaRPr/>
          </a:p>
        </p:txBody>
      </p:sp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5" y="198993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675" y="229473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5" y="259953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title="Screenshot_20260517_19241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050" y="3686825"/>
            <a:ext cx="5064147" cy="275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title="Screenshot_20260517_19243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7675" y="4007375"/>
            <a:ext cx="5064151" cy="2758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title="Screenshot_20260512_09142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6125" y="1573575"/>
            <a:ext cx="7028924" cy="39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18600" y="2754117"/>
            <a:ext cx="4202100" cy="1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Гистограмма позволяет мгновенно выявить "провальные" темы, требующие дополнительной отработки.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5715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Визуализация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прогресса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>
                <a:solidFill>
                  <a:srgbClr val="DEFF9A"/>
                </a:solidFill>
              </a:rPr>
              <a:t>Т</a:t>
            </a:r>
            <a:r>
              <a:rPr lang="en-US" sz="4050">
                <a:solidFill>
                  <a:srgbClr val="DEFF9A"/>
                </a:solidFill>
              </a:rPr>
              <a:t>естирование</a:t>
            </a:r>
            <a:r>
              <a:rPr lang="en-US" sz="4050">
                <a:solidFill>
                  <a:srgbClr val="F5F5F5"/>
                </a:solidFill>
              </a:rPr>
              <a:t> приложения</a:t>
            </a:r>
            <a:endParaRPr/>
          </a:p>
        </p:txBody>
      </p:sp>
      <p:pic>
        <p:nvPicPr>
          <p:cNvPr id="214" name="Google Shape;214;p22" title="photo_5210980784431373743_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9100" y="1804850"/>
            <a:ext cx="2757849" cy="368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title="photo_5210980784431373737_y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493" y="1804875"/>
            <a:ext cx="5105200" cy="381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title="photo_5210980784431373739_y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9672" y="1804875"/>
            <a:ext cx="2757849" cy="3688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2510"/>
            <a:ext cx="352425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992510"/>
            <a:ext cx="352425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1992510"/>
            <a:ext cx="352425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335410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914400" y="3192660"/>
            <a:ext cx="29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Цель достигнута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914400" y="3687960"/>
            <a:ext cx="28386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Разработан полнофункциональный прототип тренажера, готовый к использованию в учебном процессе.</a:t>
            </a:r>
            <a:endParaRPr/>
          </a:p>
        </p:txBody>
      </p:sp>
      <p:pic>
        <p:nvPicPr>
          <p:cNvPr descr="image.png" id="228" name="Google Shape;22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6775" y="2335410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4676775" y="3192660"/>
            <a:ext cx="29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Гипотеза подтверждена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4676775" y="4011810"/>
            <a:ext cx="28386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Визуальная аналитика и учет времени повышают осознанность подготовки и помогают точечно отрабатывать ошибки.</a:t>
            </a:r>
            <a:endParaRPr/>
          </a:p>
        </p:txBody>
      </p:sp>
      <p:pic>
        <p:nvPicPr>
          <p:cNvPr descr="image.png" id="231" name="Google Shape;23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39150" y="2335410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8439150" y="3192660"/>
            <a:ext cx="29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Автономность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8439150" y="3687960"/>
            <a:ext cx="2838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Локальное десктопное решение обеспечивает стабильную работу без зависимости от интернет-соединения.</a:t>
            </a:r>
            <a:endParaRPr/>
          </a:p>
        </p:txBody>
      </p:sp>
      <p:pic>
        <p:nvPicPr>
          <p:cNvPr descr="image.png" id="234" name="Google Shape;234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04900" y="2511623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52987" y="251162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15362" y="251162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Основные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выводы</a:t>
            </a: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проекта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89744"/>
            <a:ext cx="11049000" cy="427851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895350" y="1861244"/>
            <a:ext cx="1040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Демонстрация </a:t>
            </a:r>
            <a:r>
              <a:rPr b="0" i="0" lang="en-US" sz="6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приложения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1143000" y="3080444"/>
            <a:ext cx="990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Переходим к живому показу функционала OGE Teacher App</a:t>
            </a:r>
            <a:endParaRPr/>
          </a:p>
        </p:txBody>
      </p:sp>
      <p:pic>
        <p:nvPicPr>
          <p:cNvPr descr="image.png" id="246" name="Google Shape;24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8812" y="4044255"/>
            <a:ext cx="71437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1143000" y="1746051"/>
            <a:ext cx="8953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Полный охват КИМ:</a:t>
            </a:r>
            <a:r>
              <a:rPr b="0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Добавление оставшихся 5 задач ОГЭ (включая программирование и Excel).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1143000" y="2824162"/>
            <a:ext cx="8953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Геймификация:</a:t>
            </a:r>
            <a:r>
              <a:rPr b="0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Внедрение системы достижений (ачивок) и уровней мастерства для мотивации.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1143000" y="3902273"/>
            <a:ext cx="8953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Синхронизация:</a:t>
            </a:r>
            <a:r>
              <a:rPr b="0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Возможность облачного бэкапа статистики для работы с разных устройств.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143000" y="4980384"/>
            <a:ext cx="8953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AI-помощник:</a:t>
            </a:r>
            <a:r>
              <a:rPr b="0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Автоматическая генерация рекомендаций на основе паттернов ошибок.</a:t>
            </a:r>
            <a:endParaRPr/>
          </a:p>
        </p:txBody>
      </p:sp>
      <p:pic>
        <p:nvPicPr>
          <p:cNvPr descr="image.png" id="256" name="Google Shape;25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12726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90837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68948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47059"/>
            <a:ext cx="381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Вектор развития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продукта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6125" y="1997273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 txBox="1"/>
          <p:nvPr/>
        </p:nvSpPr>
        <p:spPr>
          <a:xfrm>
            <a:off x="571500" y="2778323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Проект на GitHub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571500" y="3187898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Весь исходный код приложения, структура JSON-базы заданий и модули аналитики размещены в открытом репозитории для ознакомления и доработки.</a:t>
            </a:r>
            <a:endParaRPr/>
          </a:p>
        </p:txBody>
      </p:sp>
      <p:pic>
        <p:nvPicPr>
          <p:cNvPr descr="image.png" id="269" name="Google Shape;26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5650" y="2006798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571500" y="57150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Открытый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исходный код</a:t>
            </a:r>
            <a:endParaRPr/>
          </a:p>
        </p:txBody>
      </p:sp>
      <p:pic>
        <p:nvPicPr>
          <p:cNvPr id="271" name="Google Shape;271;p26" title="free-icon-github-5968866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2725" y="1463875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603375" y="4621050"/>
            <a:ext cx="4978200" cy="508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github.com/anton953/oge_ticher_app.git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295275" y="2201167"/>
            <a:ext cx="116016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Вопросы?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571500" y="3429892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Благодарю за внимание к моему проекту!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571500" y="4428083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Душенков Антон | 2026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/>
          <p:cNvSpPr txBox="1"/>
          <p:nvPr/>
        </p:nvSpPr>
        <p:spPr>
          <a:xfrm>
            <a:off x="295275" y="2195512"/>
            <a:ext cx="1160145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Спасибо за внимание!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571500" y="34242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Проект "OGE Teacher App" готов к масштабированию и внедрению.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571500" y="4110037"/>
            <a:ext cx="11049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Все задачи выполнены в полном объеме. Цель достигнута.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СПб,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